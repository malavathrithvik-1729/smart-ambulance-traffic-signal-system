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4de3157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4de3157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fb4de31571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fb4de31571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40a06fde8f4_1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40a06fde8f4_1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409e4ed84e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409e4ed84e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fba2b8143a_7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fba2b8143a_7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40a04ddaea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40a04ddaea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40a04ddaea1_4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40a04ddaea1_4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40a06fde8f4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40a06fde8f4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40a06fde8f4_1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40a06fde8f4_1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www.nature.com/articles/s41598-023-48713-1?utm_source=chatgpt.com" TargetMode="External"/><Relationship Id="rId4" Type="http://schemas.openxmlformats.org/officeDocument/2006/relationships/hyperlink" Target="https://pubmed.ncbi.nlm.nih.gov/38605810/?utm_source=chatgpt.com" TargetMode="External"/><Relationship Id="rId10" Type="http://schemas.openxmlformats.org/officeDocument/2006/relationships/hyperlink" Target="https://www.nature.com/articles/s41598-026-56495-5?utm_source=chatgpt.com" TargetMode="External"/><Relationship Id="rId9" Type="http://schemas.openxmlformats.org/officeDocument/2006/relationships/hyperlink" Target="https://www.tec.gov.in/pdf/M2M/TR_Technologies%20and%20Standards%20for%20Intelligent%20Transport%20System.pdf?utm_source=chatgpt.com" TargetMode="External"/><Relationship Id="rId5" Type="http://schemas.openxmlformats.org/officeDocument/2006/relationships/hyperlink" Target="https://www.pib.gov.in/PressReleasePage.aspx?PRID=2279073&amp;lang=1&amp;reg=6&amp;utm_source=chatgpt.com" TargetMode="External"/><Relationship Id="rId6" Type="http://schemas.openxmlformats.org/officeDocument/2006/relationships/hyperlink" Target="https://www.cdac.in/index.aspx?id=product_details&amp;productId=EmSerV(EmergencyServiceVehiclePrioritySystem)&amp;utm_source=chatgpt.com" TargetMode="External"/><Relationship Id="rId7" Type="http://schemas.openxmlformats.org/officeDocument/2006/relationships/hyperlink" Target="https://www.scdf.gov.sg/docs/default-source/media-room-%28publications%29/annual-statistics/scdf-annual-statistics-on-ems-fire-enforcement-2025.pdf?utm_source=chatgpt.com" TargetMode="External"/><Relationship Id="rId8" Type="http://schemas.openxmlformats.org/officeDocument/2006/relationships/hyperlink" Target="https://ops.fhwa.dot.gov/publications/fhwahop10050/appb.htm?utm_source=chatgpt.co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p:nvPr/>
        </p:nvSpPr>
        <p:spPr>
          <a:xfrm>
            <a:off x="1731000" y="1448400"/>
            <a:ext cx="5682000" cy="2246700"/>
          </a:xfrm>
          <a:prstGeom prst="parallelogram">
            <a:avLst>
              <a:gd fmla="val 25000" name="adj"/>
            </a:avLst>
          </a:prstGeom>
          <a:solidFill>
            <a:srgbClr val="D0E0E3"/>
          </a:solidFill>
          <a:ln cap="flat" cmpd="sng" w="381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 name="Google Shape;55;p13"/>
          <p:cNvSpPr/>
          <p:nvPr/>
        </p:nvSpPr>
        <p:spPr>
          <a:xfrm>
            <a:off x="149575" y="169175"/>
            <a:ext cx="4057200" cy="338700"/>
          </a:xfrm>
          <a:prstGeom prst="flowChartAlternateProcess">
            <a:avLst/>
          </a:prstGeom>
          <a:solidFill>
            <a:srgbClr val="0E7C7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 name="Google Shape;56;p13"/>
          <p:cNvSpPr txBox="1"/>
          <p:nvPr/>
        </p:nvSpPr>
        <p:spPr>
          <a:xfrm>
            <a:off x="149575" y="169175"/>
            <a:ext cx="4057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1"/>
                </a:solidFill>
              </a:rPr>
              <a:t>School Innovation Ideathon — PanIIT Andhra Pradesh Summit 2026 </a:t>
            </a:r>
            <a:endParaRPr sz="1000">
              <a:solidFill>
                <a:schemeClr val="lt1"/>
              </a:solidFill>
            </a:endParaRPr>
          </a:p>
        </p:txBody>
      </p:sp>
      <p:sp>
        <p:nvSpPr>
          <p:cNvPr id="57" name="Google Shape;57;p13"/>
          <p:cNvSpPr txBox="1"/>
          <p:nvPr/>
        </p:nvSpPr>
        <p:spPr>
          <a:xfrm>
            <a:off x="2195250" y="2217450"/>
            <a:ext cx="4753500" cy="70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200">
                <a:solidFill>
                  <a:srgbClr val="16323F"/>
                </a:solidFill>
              </a:rPr>
              <a:t>Smart Ambulance Traffic Signal System</a:t>
            </a:r>
            <a:endParaRPr b="1" sz="2200">
              <a:solidFill>
                <a:srgbClr val="16323F"/>
              </a:solidFill>
            </a:endParaRPr>
          </a:p>
        </p:txBody>
      </p:sp>
      <p:sp>
        <p:nvSpPr>
          <p:cNvPr id="58" name="Google Shape;58;p13"/>
          <p:cNvSpPr txBox="1"/>
          <p:nvPr/>
        </p:nvSpPr>
        <p:spPr>
          <a:xfrm>
            <a:off x="4766975" y="3356400"/>
            <a:ext cx="2067300" cy="33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latin typeface="Calibri"/>
                <a:ea typeface="Calibri"/>
                <a:cs typeface="Calibri"/>
                <a:sym typeface="Calibri"/>
              </a:rPr>
              <a:t>01 — Traffic &amp; Urban Mobility </a:t>
            </a:r>
            <a:endParaRPr sz="1000">
              <a:solidFill>
                <a:schemeClr val="dk2"/>
              </a:solidFill>
              <a:latin typeface="Calibri"/>
              <a:ea typeface="Calibri"/>
              <a:cs typeface="Calibri"/>
              <a:sym typeface="Calibri"/>
            </a:endParaRPr>
          </a:p>
        </p:txBody>
      </p:sp>
      <p:sp>
        <p:nvSpPr>
          <p:cNvPr id="59" name="Google Shape;59;p13"/>
          <p:cNvSpPr/>
          <p:nvPr/>
        </p:nvSpPr>
        <p:spPr>
          <a:xfrm>
            <a:off x="70850" y="3831325"/>
            <a:ext cx="4135925" cy="1267825"/>
          </a:xfrm>
          <a:prstGeom prst="flowChartPreparation">
            <a:avLst/>
          </a:prstGeom>
          <a:solidFill>
            <a:schemeClr val="accent1"/>
          </a:solid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 name="Google Shape;60;p13"/>
          <p:cNvSpPr txBox="1"/>
          <p:nvPr/>
        </p:nvSpPr>
        <p:spPr>
          <a:xfrm>
            <a:off x="1502363" y="3822400"/>
            <a:ext cx="12729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t>Presented by:</a:t>
            </a:r>
            <a:endParaRPr sz="1100"/>
          </a:p>
        </p:txBody>
      </p:sp>
      <p:sp>
        <p:nvSpPr>
          <p:cNvPr id="61" name="Google Shape;61;p13"/>
          <p:cNvSpPr txBox="1"/>
          <p:nvPr/>
        </p:nvSpPr>
        <p:spPr>
          <a:xfrm>
            <a:off x="1177388" y="4074025"/>
            <a:ext cx="18270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t>Malavath Rithvik (10th CS)</a:t>
            </a:r>
            <a:endParaRPr b="1" sz="900"/>
          </a:p>
        </p:txBody>
      </p:sp>
      <p:sp>
        <p:nvSpPr>
          <p:cNvPr id="62" name="Google Shape;62;p13"/>
          <p:cNvSpPr txBox="1"/>
          <p:nvPr/>
        </p:nvSpPr>
        <p:spPr>
          <a:xfrm>
            <a:off x="691163" y="4776050"/>
            <a:ext cx="289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t>SPR High School, Kamareddy</a:t>
            </a:r>
            <a:endParaRPr b="1" sz="900"/>
          </a:p>
        </p:txBody>
      </p:sp>
      <p:sp>
        <p:nvSpPr>
          <p:cNvPr id="63" name="Google Shape;63;p13"/>
          <p:cNvSpPr txBox="1"/>
          <p:nvPr/>
        </p:nvSpPr>
        <p:spPr>
          <a:xfrm>
            <a:off x="1083613" y="4560988"/>
            <a:ext cx="21891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t>Chatla Bala Thrushna Dattu (9th AR)</a:t>
            </a:r>
            <a:endParaRPr b="1" sz="900"/>
          </a:p>
        </p:txBody>
      </p:sp>
      <p:sp>
        <p:nvSpPr>
          <p:cNvPr id="64" name="Google Shape;64;p13"/>
          <p:cNvSpPr txBox="1"/>
          <p:nvPr/>
        </p:nvSpPr>
        <p:spPr>
          <a:xfrm>
            <a:off x="996338" y="4314663"/>
            <a:ext cx="21891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t>Kuncham Hadvitha (9th VSB)</a:t>
            </a:r>
            <a:endParaRPr b="1" sz="9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F4F3"/>
        </a:solidFill>
      </p:bgPr>
    </p:bg>
    <p:spTree>
      <p:nvGrpSpPr>
        <p:cNvPr id="68" name="Shape 68"/>
        <p:cNvGrpSpPr/>
        <p:nvPr/>
      </p:nvGrpSpPr>
      <p:grpSpPr>
        <a:xfrm>
          <a:off x="0" y="0"/>
          <a:ext cx="0" cy="0"/>
          <a:chOff x="0" y="0"/>
          <a:chExt cx="0" cy="0"/>
        </a:xfrm>
      </p:grpSpPr>
      <p:sp>
        <p:nvSpPr>
          <p:cNvPr id="69" name="Google Shape;69;p14"/>
          <p:cNvSpPr txBox="1"/>
          <p:nvPr/>
        </p:nvSpPr>
        <p:spPr>
          <a:xfrm>
            <a:off x="291300" y="0"/>
            <a:ext cx="42441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rgbClr val="16323F"/>
                </a:solidFill>
                <a:latin typeface="Calibri"/>
                <a:ea typeface="Calibri"/>
                <a:cs typeface="Calibri"/>
                <a:sym typeface="Calibri"/>
              </a:rPr>
              <a:t>The Problem </a:t>
            </a:r>
            <a:endParaRPr b="1" sz="3200">
              <a:solidFill>
                <a:srgbClr val="16323F"/>
              </a:solidFill>
              <a:latin typeface="Calibri"/>
              <a:ea typeface="Calibri"/>
              <a:cs typeface="Calibri"/>
              <a:sym typeface="Calibri"/>
            </a:endParaRPr>
          </a:p>
        </p:txBody>
      </p:sp>
      <p:sp>
        <p:nvSpPr>
          <p:cNvPr id="70" name="Google Shape;70;p14"/>
          <p:cNvSpPr/>
          <p:nvPr/>
        </p:nvSpPr>
        <p:spPr>
          <a:xfrm>
            <a:off x="291300" y="835025"/>
            <a:ext cx="3223200" cy="510000"/>
          </a:xfrm>
          <a:prstGeom prst="roundRect">
            <a:avLst>
              <a:gd fmla="val 16667" name="adj"/>
            </a:avLst>
          </a:prstGeom>
          <a:solidFill>
            <a:schemeClr val="lt1"/>
          </a:solidFill>
          <a:ln cap="flat" cmpd="sng" w="9525">
            <a:solidFill>
              <a:srgbClr val="0E7C7B"/>
            </a:solidFill>
            <a:prstDash val="solid"/>
            <a:round/>
            <a:headEnd len="sm" w="sm" type="none"/>
            <a:tailEnd len="sm" w="sm" type="none"/>
          </a:ln>
        </p:spPr>
        <p:txBody>
          <a:bodyPr anchorCtr="0" anchor="ctr" bIns="91425" lIns="91425" spcFirstLastPara="1" rIns="91425" wrap="square" tIns="91425">
            <a:noAutofit/>
          </a:bodyPr>
          <a:lstStyle/>
          <a:p>
            <a:pPr indent="57150" lvl="0" marL="0" rtl="0" algn="l">
              <a:spcBef>
                <a:spcPts val="0"/>
              </a:spcBef>
              <a:spcAft>
                <a:spcPts val="0"/>
              </a:spcAft>
              <a:buNone/>
            </a:pPr>
            <a:r>
              <a:rPr b="1" lang="en" sz="800">
                <a:solidFill>
                  <a:schemeClr val="dk2"/>
                </a:solidFill>
              </a:rPr>
              <a:t>Ambulances can lose critical time at multiple stages — from identifying the emergency location and reaching the patient to transporting the patient to a suitable hospital. </a:t>
            </a:r>
            <a:endParaRPr sz="700"/>
          </a:p>
        </p:txBody>
      </p:sp>
      <p:sp>
        <p:nvSpPr>
          <p:cNvPr id="71" name="Google Shape;71;p14"/>
          <p:cNvSpPr/>
          <p:nvPr/>
        </p:nvSpPr>
        <p:spPr>
          <a:xfrm>
            <a:off x="291300" y="2167638"/>
            <a:ext cx="3223200" cy="819900"/>
          </a:xfrm>
          <a:prstGeom prst="roundRect">
            <a:avLst>
              <a:gd fmla="val 16667" name="adj"/>
            </a:avLst>
          </a:prstGeom>
          <a:solidFill>
            <a:schemeClr val="lt1"/>
          </a:solidFill>
          <a:ln cap="flat" cmpd="sng" w="9525">
            <a:solidFill>
              <a:srgbClr val="0E7C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t>Heavy and unpredictable traffic</a:t>
            </a:r>
            <a:endParaRPr sz="800"/>
          </a:p>
          <a:p>
            <a:pPr indent="0" lvl="0" marL="0" rtl="0" algn="l">
              <a:spcBef>
                <a:spcPts val="0"/>
              </a:spcBef>
              <a:spcAft>
                <a:spcPts val="0"/>
              </a:spcAft>
              <a:buClr>
                <a:schemeClr val="dk1"/>
              </a:buClr>
              <a:buSzPts val="1100"/>
              <a:buFont typeface="Arial"/>
              <a:buNone/>
            </a:pPr>
            <a:r>
              <a:rPr lang="en" sz="800"/>
              <a:t>Traffic signals and blocked intersections</a:t>
            </a:r>
            <a:endParaRPr sz="800"/>
          </a:p>
          <a:p>
            <a:pPr indent="0" lvl="0" marL="0" rtl="0" algn="l">
              <a:spcBef>
                <a:spcPts val="0"/>
              </a:spcBef>
              <a:spcAft>
                <a:spcPts val="0"/>
              </a:spcAft>
              <a:buClr>
                <a:schemeClr val="dk1"/>
              </a:buClr>
              <a:buSzPts val="1100"/>
              <a:buFont typeface="Arial"/>
              <a:buNone/>
            </a:pPr>
            <a:r>
              <a:rPr lang="en" sz="800"/>
              <a:t>Unfamiliar or unclear accident locations</a:t>
            </a:r>
            <a:endParaRPr sz="800"/>
          </a:p>
          <a:p>
            <a:pPr indent="0" lvl="0" marL="0" rtl="0" algn="l">
              <a:spcBef>
                <a:spcPts val="0"/>
              </a:spcBef>
              <a:spcAft>
                <a:spcPts val="0"/>
              </a:spcAft>
              <a:buClr>
                <a:schemeClr val="dk1"/>
              </a:buClr>
              <a:buSzPts val="1100"/>
              <a:buFont typeface="Arial"/>
              <a:buNone/>
            </a:pPr>
            <a:r>
              <a:rPr lang="en" sz="800"/>
              <a:t>Railway crossings and road bottlenecks</a:t>
            </a:r>
            <a:endParaRPr sz="800"/>
          </a:p>
          <a:p>
            <a:pPr indent="0" lvl="0" marL="0" rtl="0" algn="l">
              <a:spcBef>
                <a:spcPts val="0"/>
              </a:spcBef>
              <a:spcAft>
                <a:spcPts val="0"/>
              </a:spcAft>
              <a:buClr>
                <a:schemeClr val="dk1"/>
              </a:buClr>
              <a:buSzPts val="1100"/>
              <a:buFont typeface="Arial"/>
              <a:buNone/>
            </a:pPr>
            <a:r>
              <a:rPr lang="en" sz="800"/>
              <a:t>Queues beyond individual junctions</a:t>
            </a:r>
            <a:endParaRPr sz="800"/>
          </a:p>
          <a:p>
            <a:pPr indent="0" lvl="0" marL="0" rtl="0" algn="l">
              <a:spcBef>
                <a:spcPts val="0"/>
              </a:spcBef>
              <a:spcAft>
                <a:spcPts val="0"/>
              </a:spcAft>
              <a:buNone/>
            </a:pPr>
            <a:r>
              <a:rPr lang="en" sz="800"/>
              <a:t>Changing traffic conditions on the hospital route</a:t>
            </a:r>
            <a:endParaRPr sz="800"/>
          </a:p>
        </p:txBody>
      </p:sp>
      <p:sp>
        <p:nvSpPr>
          <p:cNvPr id="72" name="Google Shape;72;p14"/>
          <p:cNvSpPr/>
          <p:nvPr/>
        </p:nvSpPr>
        <p:spPr>
          <a:xfrm>
            <a:off x="291300" y="3889000"/>
            <a:ext cx="3223200" cy="758100"/>
          </a:xfrm>
          <a:prstGeom prst="roundRect">
            <a:avLst>
              <a:gd fmla="val 16667" name="adj"/>
            </a:avLst>
          </a:prstGeom>
          <a:solidFill>
            <a:schemeClr val="lt1"/>
          </a:solidFill>
          <a:ln cap="flat" cmpd="sng" w="9525">
            <a:solidFill>
              <a:srgbClr val="0E7C7B"/>
            </a:solidFill>
            <a:prstDash val="solid"/>
            <a:round/>
            <a:headEnd len="sm" w="sm" type="none"/>
            <a:tailEnd len="sm" w="sm" type="none"/>
          </a:ln>
        </p:spPr>
        <p:txBody>
          <a:bodyPr anchorCtr="0" anchor="ctr" bIns="91425" lIns="91425" spcFirstLastPara="1" rIns="91425" wrap="square" tIns="91425">
            <a:noAutofit/>
          </a:bodyPr>
          <a:lstStyle/>
          <a:p>
            <a:pPr indent="57150" lvl="0" marL="0" rtl="0" algn="l">
              <a:spcBef>
                <a:spcPts val="0"/>
              </a:spcBef>
              <a:spcAft>
                <a:spcPts val="0"/>
              </a:spcAft>
              <a:buClr>
                <a:schemeClr val="dk1"/>
              </a:buClr>
              <a:buSzPts val="1100"/>
              <a:buFont typeface="Arial"/>
              <a:buNone/>
            </a:pPr>
            <a:r>
              <a:rPr b="1" lang="en" sz="800">
                <a:solidFill>
                  <a:schemeClr val="dk2"/>
                </a:solidFill>
              </a:rPr>
              <a:t>Emergency patients</a:t>
            </a:r>
            <a:endParaRPr b="1" sz="800">
              <a:solidFill>
                <a:schemeClr val="dk2"/>
              </a:solidFill>
            </a:endParaRPr>
          </a:p>
          <a:p>
            <a:pPr indent="57150" lvl="0" marL="0" rtl="0" algn="l">
              <a:spcBef>
                <a:spcPts val="0"/>
              </a:spcBef>
              <a:spcAft>
                <a:spcPts val="0"/>
              </a:spcAft>
              <a:buClr>
                <a:schemeClr val="dk1"/>
              </a:buClr>
              <a:buSzPts val="1100"/>
              <a:buFont typeface="Arial"/>
              <a:buNone/>
            </a:pPr>
            <a:r>
              <a:rPr b="1" lang="en" sz="800">
                <a:solidFill>
                  <a:schemeClr val="dk2"/>
                </a:solidFill>
              </a:rPr>
              <a:t>Accident victims</a:t>
            </a:r>
            <a:endParaRPr b="1" sz="800">
              <a:solidFill>
                <a:schemeClr val="dk2"/>
              </a:solidFill>
            </a:endParaRPr>
          </a:p>
          <a:p>
            <a:pPr indent="57150" lvl="0" marL="0" rtl="0" algn="l">
              <a:spcBef>
                <a:spcPts val="0"/>
              </a:spcBef>
              <a:spcAft>
                <a:spcPts val="0"/>
              </a:spcAft>
              <a:buClr>
                <a:schemeClr val="dk1"/>
              </a:buClr>
              <a:buSzPts val="1100"/>
              <a:buFont typeface="Arial"/>
              <a:buNone/>
            </a:pPr>
            <a:r>
              <a:rPr b="1" lang="en" sz="800">
                <a:solidFill>
                  <a:schemeClr val="dk2"/>
                </a:solidFill>
              </a:rPr>
              <a:t>Ambulance crews</a:t>
            </a:r>
            <a:endParaRPr b="1" sz="800">
              <a:solidFill>
                <a:schemeClr val="dk2"/>
              </a:solidFill>
            </a:endParaRPr>
          </a:p>
          <a:p>
            <a:pPr indent="57150" lvl="0" marL="0" rtl="0" algn="l">
              <a:spcBef>
                <a:spcPts val="0"/>
              </a:spcBef>
              <a:spcAft>
                <a:spcPts val="0"/>
              </a:spcAft>
              <a:buClr>
                <a:schemeClr val="dk1"/>
              </a:buClr>
              <a:buSzPts val="1100"/>
              <a:buFont typeface="Arial"/>
              <a:buNone/>
            </a:pPr>
            <a:r>
              <a:rPr b="1" lang="en" sz="800">
                <a:solidFill>
                  <a:schemeClr val="dk2"/>
                </a:solidFill>
              </a:rPr>
              <a:t>Emergency medical services</a:t>
            </a:r>
            <a:endParaRPr b="1" sz="800">
              <a:solidFill>
                <a:schemeClr val="dk2"/>
              </a:solidFill>
            </a:endParaRPr>
          </a:p>
          <a:p>
            <a:pPr indent="57150" lvl="0" marL="0" rtl="0" algn="l">
              <a:spcBef>
                <a:spcPts val="0"/>
              </a:spcBef>
              <a:spcAft>
                <a:spcPts val="0"/>
              </a:spcAft>
              <a:buNone/>
            </a:pPr>
            <a:r>
              <a:rPr b="1" lang="en" sz="800">
                <a:solidFill>
                  <a:schemeClr val="dk2"/>
                </a:solidFill>
              </a:rPr>
              <a:t>Hospitals receiving critical patients</a:t>
            </a:r>
            <a:endParaRPr sz="800"/>
          </a:p>
        </p:txBody>
      </p:sp>
      <p:sp>
        <p:nvSpPr>
          <p:cNvPr id="73" name="Google Shape;73;p14"/>
          <p:cNvSpPr txBox="1"/>
          <p:nvPr/>
        </p:nvSpPr>
        <p:spPr>
          <a:xfrm>
            <a:off x="291300" y="605000"/>
            <a:ext cx="22554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WHAT IS THE PROBLEM? </a:t>
            </a:r>
            <a:endParaRPr b="1" sz="800"/>
          </a:p>
        </p:txBody>
      </p:sp>
      <p:sp>
        <p:nvSpPr>
          <p:cNvPr id="74" name="Google Shape;74;p14"/>
          <p:cNvSpPr txBox="1"/>
          <p:nvPr/>
        </p:nvSpPr>
        <p:spPr>
          <a:xfrm>
            <a:off x="291300" y="1912575"/>
            <a:ext cx="1625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WHERE DOES IT HAPPEN?</a:t>
            </a:r>
            <a:endParaRPr b="1" sz="800"/>
          </a:p>
        </p:txBody>
      </p:sp>
      <p:sp>
        <p:nvSpPr>
          <p:cNvPr id="75" name="Google Shape;75;p14"/>
          <p:cNvSpPr txBox="1"/>
          <p:nvPr/>
        </p:nvSpPr>
        <p:spPr>
          <a:xfrm>
            <a:off x="291300" y="3641613"/>
            <a:ext cx="1625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WHO IS AFFECTED?</a:t>
            </a:r>
            <a:endParaRPr b="1" sz="800"/>
          </a:p>
        </p:txBody>
      </p:sp>
      <p:sp>
        <p:nvSpPr>
          <p:cNvPr id="76" name="Google Shape;76;p14"/>
          <p:cNvSpPr txBox="1"/>
          <p:nvPr/>
        </p:nvSpPr>
        <p:spPr>
          <a:xfrm>
            <a:off x="4510125" y="4124700"/>
            <a:ext cx="4075800" cy="36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An ambulance struck in traffic</a:t>
            </a:r>
            <a:endParaRPr sz="1800">
              <a:solidFill>
                <a:schemeClr val="dk2"/>
              </a:solidFill>
            </a:endParaRPr>
          </a:p>
        </p:txBody>
      </p:sp>
      <p:pic>
        <p:nvPicPr>
          <p:cNvPr id="77" name="Google Shape;77;p14"/>
          <p:cNvPicPr preferRelativeResize="0"/>
          <p:nvPr/>
        </p:nvPicPr>
        <p:blipFill>
          <a:blip r:embed="rId3">
            <a:alphaModFix/>
          </a:blip>
          <a:stretch>
            <a:fillRect/>
          </a:stretch>
        </p:blipFill>
        <p:spPr>
          <a:xfrm>
            <a:off x="3666900" y="829500"/>
            <a:ext cx="5324700" cy="299514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F4F3"/>
        </a:solidFill>
      </p:bgPr>
    </p:bg>
    <p:spTree>
      <p:nvGrpSpPr>
        <p:cNvPr id="81" name="Shape 81"/>
        <p:cNvGrpSpPr/>
        <p:nvPr/>
      </p:nvGrpSpPr>
      <p:grpSpPr>
        <a:xfrm>
          <a:off x="0" y="0"/>
          <a:ext cx="0" cy="0"/>
          <a:chOff x="0" y="0"/>
          <a:chExt cx="0" cy="0"/>
        </a:xfrm>
      </p:grpSpPr>
      <p:sp>
        <p:nvSpPr>
          <p:cNvPr id="82" name="Google Shape;82;p15"/>
          <p:cNvSpPr txBox="1"/>
          <p:nvPr/>
        </p:nvSpPr>
        <p:spPr>
          <a:xfrm>
            <a:off x="157000" y="115350"/>
            <a:ext cx="49938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rgbClr val="16323F"/>
                </a:solidFill>
              </a:rPr>
              <a:t>Evidence &amp; Research </a:t>
            </a:r>
            <a:r>
              <a:rPr b="1" lang="en" sz="1700">
                <a:solidFill>
                  <a:srgbClr val="16323F"/>
                </a:solidFill>
              </a:rPr>
              <a:t> </a:t>
            </a:r>
            <a:endParaRPr b="1" sz="1700">
              <a:solidFill>
                <a:srgbClr val="16323F"/>
              </a:solidFill>
            </a:endParaRPr>
          </a:p>
        </p:txBody>
      </p:sp>
      <p:sp>
        <p:nvSpPr>
          <p:cNvPr id="83" name="Google Shape;83;p15"/>
          <p:cNvSpPr txBox="1"/>
          <p:nvPr/>
        </p:nvSpPr>
        <p:spPr>
          <a:xfrm>
            <a:off x="157000" y="1190250"/>
            <a:ext cx="4814700" cy="2763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solidFill>
                  <a:schemeClr val="dk1"/>
                </a:solidFill>
              </a:rPr>
              <a:t>Maharashtra EMS Study — 38,823 records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23.15 min</a:t>
            </a:r>
            <a:r>
              <a:rPr lang="en" sz="1100">
                <a:solidFill>
                  <a:schemeClr val="dk1"/>
                </a:solidFill>
              </a:rPr>
              <a:t> — Average Base → Scene time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12.12 min</a:t>
            </a:r>
            <a:r>
              <a:rPr lang="en" sz="1100">
                <a:solidFill>
                  <a:schemeClr val="dk1"/>
                </a:solidFill>
              </a:rPr>
              <a:t> — Scene assessment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39.41 min</a:t>
            </a:r>
            <a:r>
              <a:rPr lang="en" sz="1100">
                <a:solidFill>
                  <a:schemeClr val="dk1"/>
                </a:solidFill>
              </a:rPr>
              <a:t> — Average Scene → Hospital time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10.85 min</a:t>
            </a:r>
            <a:r>
              <a:rPr lang="en" sz="1100">
                <a:solidFill>
                  <a:schemeClr val="dk1"/>
                </a:solidFill>
              </a:rPr>
              <a:t> — Hospital handover</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Emergency response is a </a:t>
            </a:r>
            <a:r>
              <a:rPr b="1" lang="en" sz="1100">
                <a:solidFill>
                  <a:schemeClr val="dk1"/>
                </a:solidFill>
              </a:rPr>
              <a:t>multi-stage process</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Delays occur </a:t>
            </a:r>
            <a:r>
              <a:rPr b="1" lang="en" sz="1100">
                <a:solidFill>
                  <a:schemeClr val="dk1"/>
                </a:solidFill>
              </a:rPr>
              <a:t>before reaching the patient and during hospital transport</a:t>
            </a:r>
            <a:endParaRPr b="1" sz="1100">
              <a:solidFill>
                <a:schemeClr val="dk1"/>
              </a:solidFill>
            </a:endParaRPr>
          </a:p>
          <a:p>
            <a:pPr indent="0" lvl="0" marL="0" rtl="0" algn="l">
              <a:lnSpc>
                <a:spcPct val="115000"/>
              </a:lnSpc>
              <a:spcBef>
                <a:spcPts val="1200"/>
              </a:spcBef>
              <a:spcAft>
                <a:spcPts val="0"/>
              </a:spcAft>
              <a:buNone/>
            </a:pPr>
            <a:r>
              <a:rPr b="1" lang="en" sz="1100">
                <a:solidFill>
                  <a:schemeClr val="dk1"/>
                </a:solidFill>
              </a:rPr>
              <a:t>Ambulance delay is not limited to traffic signals — it can occur throughout the emergency journey. </a:t>
            </a:r>
            <a:endParaRPr b="1" sz="1100">
              <a:solidFill>
                <a:schemeClr val="dk1"/>
              </a:solidFill>
            </a:endParaRPr>
          </a:p>
          <a:p>
            <a:pPr indent="0" lvl="0" marL="0" rtl="0" algn="l">
              <a:lnSpc>
                <a:spcPct val="115000"/>
              </a:lnSpc>
              <a:spcBef>
                <a:spcPts val="1200"/>
              </a:spcBef>
              <a:spcAft>
                <a:spcPts val="1200"/>
              </a:spcAft>
              <a:buNone/>
            </a:pPr>
            <a:r>
              <a:rPr b="1" lang="en" sz="1100">
                <a:solidFill>
                  <a:schemeClr val="dk1"/>
                </a:solidFill>
              </a:rPr>
              <a:t>-Source:</a:t>
            </a:r>
            <a:r>
              <a:rPr lang="en" sz="1100">
                <a:solidFill>
                  <a:schemeClr val="dk1"/>
                </a:solidFill>
              </a:rPr>
              <a:t> Scientific Reports — Nature, 2023. </a:t>
            </a:r>
            <a:endParaRPr sz="1100">
              <a:solidFill>
                <a:schemeClr val="dk1"/>
              </a:solidFill>
            </a:endParaRPr>
          </a:p>
        </p:txBody>
      </p:sp>
      <p:pic>
        <p:nvPicPr>
          <p:cNvPr id="84" name="Google Shape;84;p15"/>
          <p:cNvPicPr preferRelativeResize="0"/>
          <p:nvPr/>
        </p:nvPicPr>
        <p:blipFill>
          <a:blip r:embed="rId3">
            <a:alphaModFix/>
          </a:blip>
          <a:stretch>
            <a:fillRect/>
          </a:stretch>
        </p:blipFill>
        <p:spPr>
          <a:xfrm>
            <a:off x="5092125" y="808038"/>
            <a:ext cx="4051875" cy="3527425"/>
          </a:xfrm>
          <a:prstGeom prst="rect">
            <a:avLst/>
          </a:prstGeom>
          <a:noFill/>
          <a:ln>
            <a:noFill/>
          </a:ln>
        </p:spPr>
      </p:pic>
      <p:sp>
        <p:nvSpPr>
          <p:cNvPr id="85" name="Google Shape;85;p15"/>
          <p:cNvSpPr txBox="1"/>
          <p:nvPr/>
        </p:nvSpPr>
        <p:spPr>
          <a:xfrm>
            <a:off x="5482775" y="4517150"/>
            <a:ext cx="2979600" cy="25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Maharashtra</a:t>
            </a:r>
            <a:r>
              <a:rPr lang="en" sz="1800">
                <a:solidFill>
                  <a:schemeClr val="dk2"/>
                </a:solidFill>
              </a:rPr>
              <a:t> EMS study</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F4F3"/>
        </a:solidFill>
      </p:bgPr>
    </p:bg>
    <p:spTree>
      <p:nvGrpSpPr>
        <p:cNvPr id="89" name="Shape 89"/>
        <p:cNvGrpSpPr/>
        <p:nvPr/>
      </p:nvGrpSpPr>
      <p:grpSpPr>
        <a:xfrm>
          <a:off x="0" y="0"/>
          <a:ext cx="0" cy="0"/>
          <a:chOff x="0" y="0"/>
          <a:chExt cx="0" cy="0"/>
        </a:xfrm>
      </p:grpSpPr>
      <p:sp>
        <p:nvSpPr>
          <p:cNvPr id="90" name="Google Shape;90;p16"/>
          <p:cNvSpPr txBox="1"/>
          <p:nvPr/>
        </p:nvSpPr>
        <p:spPr>
          <a:xfrm>
            <a:off x="157000" y="115350"/>
            <a:ext cx="49938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rgbClr val="16323F"/>
                </a:solidFill>
              </a:rPr>
              <a:t>Evidence &amp; Research  </a:t>
            </a:r>
            <a:endParaRPr b="1" sz="1700">
              <a:solidFill>
                <a:srgbClr val="16323F"/>
              </a:solidFill>
            </a:endParaRPr>
          </a:p>
        </p:txBody>
      </p:sp>
      <p:sp>
        <p:nvSpPr>
          <p:cNvPr id="91" name="Google Shape;91;p16"/>
          <p:cNvSpPr txBox="1"/>
          <p:nvPr/>
        </p:nvSpPr>
        <p:spPr>
          <a:xfrm>
            <a:off x="157000" y="678738"/>
            <a:ext cx="5155800" cy="2060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solidFill>
                  <a:schemeClr val="dk1"/>
                </a:solidFill>
              </a:rPr>
              <a:t>INDIAN HIGHWAY EVIDENCE</a:t>
            </a:r>
            <a:endParaRPr b="1" sz="1300">
              <a:solidFill>
                <a:schemeClr val="dk1"/>
              </a:solidFill>
            </a:endParaRPr>
          </a:p>
          <a:p>
            <a:pPr indent="0" lvl="0" marL="0" rtl="0" algn="l">
              <a:lnSpc>
                <a:spcPct val="115000"/>
              </a:lnSpc>
              <a:spcBef>
                <a:spcPts val="1200"/>
              </a:spcBef>
              <a:spcAft>
                <a:spcPts val="0"/>
              </a:spcAft>
              <a:buNone/>
            </a:pPr>
            <a:r>
              <a:rPr lang="en" sz="1100">
                <a:solidFill>
                  <a:schemeClr val="dk1"/>
                </a:solidFill>
              </a:rPr>
              <a:t>A separate survey of </a:t>
            </a:r>
            <a:r>
              <a:rPr b="1" lang="en" sz="1100">
                <a:solidFill>
                  <a:schemeClr val="dk1"/>
                </a:solidFill>
              </a:rPr>
              <a:t>225 participants</a:t>
            </a:r>
            <a:r>
              <a:rPr lang="en" sz="1100">
                <a:solidFill>
                  <a:schemeClr val="dk1"/>
                </a:solidFill>
              </a:rPr>
              <a:t> found:</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~90%</a:t>
            </a:r>
            <a:r>
              <a:rPr lang="en" sz="1100">
                <a:solidFill>
                  <a:schemeClr val="dk1"/>
                </a:solidFill>
              </a:rPr>
              <a:t> successfully contacted an ambulance service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Only </a:t>
            </a:r>
            <a:r>
              <a:rPr b="1" lang="en" sz="1100">
                <a:solidFill>
                  <a:schemeClr val="dk1"/>
                </a:solidFill>
              </a:rPr>
              <a:t>~72–78%</a:t>
            </a:r>
            <a:r>
              <a:rPr lang="en" sz="1100">
                <a:solidFill>
                  <a:schemeClr val="dk1"/>
                </a:solidFill>
              </a:rPr>
              <a:t> reported successful ambulance arrival at the accident scene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25–35 min</a:t>
            </a:r>
            <a:r>
              <a:rPr lang="en" sz="1100">
                <a:solidFill>
                  <a:schemeClr val="dk1"/>
                </a:solidFill>
              </a:rPr>
              <a:t> ambulance arrival time on core highways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15–25 min</a:t>
            </a:r>
            <a:r>
              <a:rPr lang="en" sz="1100">
                <a:solidFill>
                  <a:schemeClr val="dk1"/>
                </a:solidFill>
              </a:rPr>
              <a:t> transport time to nearby hospitals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PubMed</a:t>
            </a:r>
            <a:endParaRPr b="1" sz="1100">
              <a:solidFill>
                <a:schemeClr val="dk1"/>
              </a:solidFill>
            </a:endParaRPr>
          </a:p>
        </p:txBody>
      </p:sp>
      <p:pic>
        <p:nvPicPr>
          <p:cNvPr id="92" name="Google Shape;92;p16"/>
          <p:cNvPicPr preferRelativeResize="0"/>
          <p:nvPr/>
        </p:nvPicPr>
        <p:blipFill>
          <a:blip r:embed="rId3">
            <a:alphaModFix/>
          </a:blip>
          <a:stretch>
            <a:fillRect/>
          </a:stretch>
        </p:blipFill>
        <p:spPr>
          <a:xfrm>
            <a:off x="5384200" y="387188"/>
            <a:ext cx="3607401" cy="4369123"/>
          </a:xfrm>
          <a:prstGeom prst="rect">
            <a:avLst/>
          </a:prstGeom>
          <a:noFill/>
          <a:ln>
            <a:noFill/>
          </a:ln>
        </p:spPr>
      </p:pic>
      <p:sp>
        <p:nvSpPr>
          <p:cNvPr id="93" name="Google Shape;93;p16"/>
          <p:cNvSpPr txBox="1"/>
          <p:nvPr/>
        </p:nvSpPr>
        <p:spPr>
          <a:xfrm>
            <a:off x="157000" y="3501500"/>
            <a:ext cx="49938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Mumbai: One in 10 patients in India dies on the way to hospital, simply because motorists are clueless about what to do when they see an ambulance on the road, according to the Radhee Disaster and Education Foundation.</a:t>
            </a:r>
            <a:endParaRPr sz="1100"/>
          </a:p>
          <a:p>
            <a:pPr indent="-298450" lvl="0" marL="457200" rtl="0" algn="l">
              <a:spcBef>
                <a:spcPts val="0"/>
              </a:spcBef>
              <a:spcAft>
                <a:spcPts val="0"/>
              </a:spcAft>
              <a:buSzPts val="1100"/>
              <a:buChar char="-"/>
            </a:pPr>
            <a:r>
              <a:rPr lang="en" sz="1100"/>
              <a:t>Radhee Foundation</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F4F3"/>
        </a:solidFill>
      </p:bgPr>
    </p:bg>
    <p:spTree>
      <p:nvGrpSpPr>
        <p:cNvPr id="97" name="Shape 97"/>
        <p:cNvGrpSpPr/>
        <p:nvPr/>
      </p:nvGrpSpPr>
      <p:grpSpPr>
        <a:xfrm>
          <a:off x="0" y="0"/>
          <a:ext cx="0" cy="0"/>
          <a:chOff x="0" y="0"/>
          <a:chExt cx="0" cy="0"/>
        </a:xfrm>
      </p:grpSpPr>
      <p:sp>
        <p:nvSpPr>
          <p:cNvPr id="98" name="Google Shape;98;p17"/>
          <p:cNvSpPr txBox="1"/>
          <p:nvPr/>
        </p:nvSpPr>
        <p:spPr>
          <a:xfrm>
            <a:off x="157000" y="115350"/>
            <a:ext cx="49938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rgbClr val="16323F"/>
                </a:solidFill>
              </a:rPr>
              <a:t>Root Cause Analysis</a:t>
            </a:r>
            <a:endParaRPr b="1" sz="1700">
              <a:solidFill>
                <a:srgbClr val="16323F"/>
              </a:solidFill>
            </a:endParaRPr>
          </a:p>
        </p:txBody>
      </p:sp>
      <p:sp>
        <p:nvSpPr>
          <p:cNvPr id="99" name="Google Shape;99;p17"/>
          <p:cNvSpPr/>
          <p:nvPr/>
        </p:nvSpPr>
        <p:spPr>
          <a:xfrm>
            <a:off x="4664750" y="3268225"/>
            <a:ext cx="4029300" cy="1365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100">
                <a:solidFill>
                  <a:schemeClr val="dk1"/>
                </a:solidFill>
              </a:rPr>
              <a:t>Manual Traffic Override:</a:t>
            </a:r>
            <a:r>
              <a:rPr lang="en" sz="1100">
                <a:solidFill>
                  <a:schemeClr val="dk1"/>
                </a:solidFill>
              </a:rPr>
              <a:t> Traffic police cannot be stationed at every junction 24/7 to manually override signal phases during sudden medical emergencies.</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rPr>
              <a:t>Siren Dependency:</a:t>
            </a:r>
            <a:r>
              <a:rPr lang="en" sz="1100">
                <a:solidFill>
                  <a:schemeClr val="dk1"/>
                </a:solidFill>
              </a:rPr>
              <a:t> Sirens rely entirely on manual driver cooperation, which fails in high-density or multi-lane traffic without automated signal assistance.</a:t>
            </a:r>
            <a:endParaRPr sz="1100">
              <a:solidFill>
                <a:schemeClr val="dk1"/>
              </a:solidFill>
            </a:endParaRPr>
          </a:p>
          <a:p>
            <a:pPr indent="0" lvl="0" marL="0" rtl="0" algn="l">
              <a:lnSpc>
                <a:spcPct val="115000"/>
              </a:lnSpc>
              <a:spcBef>
                <a:spcPts val="0"/>
              </a:spcBef>
              <a:spcAft>
                <a:spcPts val="0"/>
              </a:spcAft>
              <a:buNone/>
            </a:pPr>
            <a:r>
              <a:t/>
            </a:r>
            <a:endParaRPr b="1" sz="1100">
              <a:solidFill>
                <a:schemeClr val="dk1"/>
              </a:solidFill>
            </a:endParaRPr>
          </a:p>
        </p:txBody>
      </p:sp>
      <p:sp>
        <p:nvSpPr>
          <p:cNvPr id="100" name="Google Shape;100;p17"/>
          <p:cNvSpPr txBox="1"/>
          <p:nvPr/>
        </p:nvSpPr>
        <p:spPr>
          <a:xfrm>
            <a:off x="4664750" y="2959800"/>
            <a:ext cx="31308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t>Past Attempts and System gaps</a:t>
            </a:r>
            <a:endParaRPr b="1" sz="1300"/>
          </a:p>
        </p:txBody>
      </p:sp>
      <p:sp>
        <p:nvSpPr>
          <p:cNvPr id="101" name="Google Shape;101;p17"/>
          <p:cNvSpPr/>
          <p:nvPr/>
        </p:nvSpPr>
        <p:spPr>
          <a:xfrm>
            <a:off x="157000" y="3268213"/>
            <a:ext cx="4029300" cy="1442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100">
                <a:solidFill>
                  <a:schemeClr val="dk1"/>
                </a:solidFill>
              </a:rPr>
              <a:t>Civic Behavior &amp; Infrastructure:</a:t>
            </a:r>
            <a:r>
              <a:rPr lang="en" sz="1100">
                <a:solidFill>
                  <a:schemeClr val="dk1"/>
                </a:solidFill>
              </a:rPr>
              <a:t> A combination of limited public road awareness regarding yielding and a lack of automated, smart traffic management systems.</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rPr>
              <a:t>Enforcement Deficit:</a:t>
            </a:r>
            <a:r>
              <a:rPr lang="en" sz="1100">
                <a:solidFill>
                  <a:schemeClr val="dk1"/>
                </a:solidFill>
              </a:rPr>
              <a:t> Absence of automated deterrents (like real-time e-challans) for non-yielding drivers during emergency passage.</a:t>
            </a:r>
            <a:endParaRPr sz="1100">
              <a:solidFill>
                <a:schemeClr val="dk1"/>
              </a:solidFill>
            </a:endParaRPr>
          </a:p>
          <a:p>
            <a:pPr indent="57150" lvl="0" marL="0" rtl="0" algn="l">
              <a:lnSpc>
                <a:spcPct val="115000"/>
              </a:lnSpc>
              <a:spcBef>
                <a:spcPts val="0"/>
              </a:spcBef>
              <a:spcAft>
                <a:spcPts val="0"/>
              </a:spcAft>
              <a:buNone/>
            </a:pPr>
            <a:r>
              <a:t/>
            </a:r>
            <a:endParaRPr b="1" sz="1100">
              <a:solidFill>
                <a:schemeClr val="dk1"/>
              </a:solidFill>
            </a:endParaRPr>
          </a:p>
        </p:txBody>
      </p:sp>
      <p:sp>
        <p:nvSpPr>
          <p:cNvPr id="102" name="Google Shape;102;p17"/>
          <p:cNvSpPr txBox="1"/>
          <p:nvPr/>
        </p:nvSpPr>
        <p:spPr>
          <a:xfrm>
            <a:off x="232625" y="2959788"/>
            <a:ext cx="2437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t>Who is </a:t>
            </a:r>
            <a:r>
              <a:rPr b="1" lang="en" sz="1300"/>
              <a:t>responsible</a:t>
            </a:r>
            <a:r>
              <a:rPr b="1" lang="en" sz="1300"/>
              <a:t> </a:t>
            </a:r>
            <a:r>
              <a:rPr b="1" lang="en" sz="1300"/>
              <a:t>to this?</a:t>
            </a:r>
            <a:endParaRPr b="1" sz="1300"/>
          </a:p>
        </p:txBody>
      </p:sp>
      <p:sp>
        <p:nvSpPr>
          <p:cNvPr id="103" name="Google Shape;103;p17"/>
          <p:cNvSpPr/>
          <p:nvPr/>
        </p:nvSpPr>
        <p:spPr>
          <a:xfrm>
            <a:off x="157000" y="791388"/>
            <a:ext cx="4029300" cy="2168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100">
                <a:solidFill>
                  <a:schemeClr val="dk1"/>
                </a:solidFill>
              </a:rPr>
              <a:t>Peak Traffic Density:</a:t>
            </a:r>
            <a:r>
              <a:rPr lang="en" sz="1100">
                <a:solidFill>
                  <a:schemeClr val="dk1"/>
                </a:solidFill>
              </a:rPr>
              <a:t> High vehicle volume during rush hours creates gridlocks where ambulances physically cannot pass.</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rPr>
              <a:t>Poor Lane Discipline &amp; Blind Spots:</a:t>
            </a:r>
            <a:r>
              <a:rPr lang="en" sz="1100">
                <a:solidFill>
                  <a:schemeClr val="dk1"/>
                </a:solidFill>
              </a:rPr>
              <a:t> Drivers frequently fail to follow lane rules, blocking emergency paths or missing approaching sirens due to cabin noise and blind spots.</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rPr>
              <a:t>Fixed-Timer Signals:</a:t>
            </a:r>
            <a:r>
              <a:rPr lang="en" sz="1100">
                <a:solidFill>
                  <a:schemeClr val="dk1"/>
                </a:solidFill>
              </a:rPr>
              <a:t> Conventional junctions operate on static, un-synchronized timers that cannot detect or prioritize emergency transit.</a:t>
            </a:r>
            <a:endParaRPr sz="1100">
              <a:solidFill>
                <a:schemeClr val="dk1"/>
              </a:solidFill>
            </a:endParaRPr>
          </a:p>
          <a:p>
            <a:pPr indent="57150" lvl="0" marL="0" rtl="0" algn="l">
              <a:lnSpc>
                <a:spcPct val="115000"/>
              </a:lnSpc>
              <a:spcBef>
                <a:spcPts val="0"/>
              </a:spcBef>
              <a:spcAft>
                <a:spcPts val="0"/>
              </a:spcAft>
              <a:buNone/>
            </a:pPr>
            <a:r>
              <a:t/>
            </a:r>
            <a:endParaRPr b="1" sz="1100">
              <a:solidFill>
                <a:schemeClr val="dk1"/>
              </a:solidFill>
            </a:endParaRPr>
          </a:p>
        </p:txBody>
      </p:sp>
      <p:sp>
        <p:nvSpPr>
          <p:cNvPr id="104" name="Google Shape;104;p17"/>
          <p:cNvSpPr txBox="1"/>
          <p:nvPr/>
        </p:nvSpPr>
        <p:spPr>
          <a:xfrm>
            <a:off x="297475" y="472600"/>
            <a:ext cx="2437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t>Root Cause</a:t>
            </a:r>
            <a:endParaRPr b="1" sz="1300"/>
          </a:p>
        </p:txBody>
      </p:sp>
      <p:pic>
        <p:nvPicPr>
          <p:cNvPr id="105" name="Google Shape;105;p17"/>
          <p:cNvPicPr preferRelativeResize="0"/>
          <p:nvPr/>
        </p:nvPicPr>
        <p:blipFill rotWithShape="1">
          <a:blip r:embed="rId3">
            <a:alphaModFix/>
          </a:blip>
          <a:srcRect b="0" l="0" r="0" t="62795"/>
          <a:stretch/>
        </p:blipFill>
        <p:spPr>
          <a:xfrm>
            <a:off x="5109225" y="561762"/>
            <a:ext cx="3489950" cy="1600275"/>
          </a:xfrm>
          <a:prstGeom prst="rect">
            <a:avLst/>
          </a:prstGeom>
          <a:noFill/>
          <a:ln>
            <a:noFill/>
          </a:ln>
        </p:spPr>
      </p:pic>
      <p:sp>
        <p:nvSpPr>
          <p:cNvPr id="106" name="Google Shape;106;p17"/>
          <p:cNvSpPr txBox="1"/>
          <p:nvPr/>
        </p:nvSpPr>
        <p:spPr>
          <a:xfrm>
            <a:off x="5275475" y="2357400"/>
            <a:ext cx="3323700" cy="32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Lacking of lane discipline</a:t>
            </a:r>
            <a:endParaRPr sz="18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F4F3"/>
        </a:solidFill>
      </p:bgPr>
    </p:bg>
    <p:spTree>
      <p:nvGrpSpPr>
        <p:cNvPr id="110" name="Shape 110"/>
        <p:cNvGrpSpPr/>
        <p:nvPr/>
      </p:nvGrpSpPr>
      <p:grpSpPr>
        <a:xfrm>
          <a:off x="0" y="0"/>
          <a:ext cx="0" cy="0"/>
          <a:chOff x="0" y="0"/>
          <a:chExt cx="0" cy="0"/>
        </a:xfrm>
      </p:grpSpPr>
      <p:sp>
        <p:nvSpPr>
          <p:cNvPr id="111" name="Google Shape;111;p18"/>
          <p:cNvSpPr txBox="1"/>
          <p:nvPr/>
        </p:nvSpPr>
        <p:spPr>
          <a:xfrm>
            <a:off x="4832900" y="139800"/>
            <a:ext cx="49938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rgbClr val="16323F"/>
                </a:solidFill>
              </a:rPr>
              <a:t>The Solution </a:t>
            </a:r>
            <a:endParaRPr b="1" sz="1700">
              <a:solidFill>
                <a:srgbClr val="16323F"/>
              </a:solidFill>
            </a:endParaRPr>
          </a:p>
        </p:txBody>
      </p:sp>
      <p:sp>
        <p:nvSpPr>
          <p:cNvPr id="112" name="Google Shape;112;p18"/>
          <p:cNvSpPr/>
          <p:nvPr/>
        </p:nvSpPr>
        <p:spPr>
          <a:xfrm>
            <a:off x="178463" y="139800"/>
            <a:ext cx="2966100" cy="1207800"/>
          </a:xfrm>
          <a:prstGeom prst="roundRect">
            <a:avLst>
              <a:gd fmla="val 16667" name="adj"/>
            </a:avLst>
          </a:prstGeom>
          <a:solidFill>
            <a:schemeClr val="lt2"/>
          </a:solidFill>
          <a:ln cap="flat" cmpd="sng" w="8175">
            <a:solidFill>
              <a:schemeClr val="dk2"/>
            </a:solidFill>
            <a:prstDash val="solid"/>
            <a:round/>
            <a:headEnd len="sm" w="sm" type="none"/>
            <a:tailEnd len="sm" w="sm" type="none"/>
          </a:ln>
        </p:spPr>
        <p:txBody>
          <a:bodyPr anchorCtr="0" anchor="ctr" bIns="78350" lIns="78350" spcFirstLastPara="1" rIns="78350" wrap="square" tIns="78350">
            <a:noAutofit/>
          </a:bodyPr>
          <a:lstStyle/>
          <a:p>
            <a:pPr indent="0" lvl="0" marL="0" rtl="0" algn="ctr">
              <a:spcBef>
                <a:spcPts val="0"/>
              </a:spcBef>
              <a:spcAft>
                <a:spcPts val="0"/>
              </a:spcAft>
              <a:buNone/>
            </a:pPr>
            <a:r>
              <a:t/>
            </a:r>
            <a:endParaRPr sz="1000"/>
          </a:p>
        </p:txBody>
      </p:sp>
      <p:sp>
        <p:nvSpPr>
          <p:cNvPr id="113" name="Google Shape;113;p18"/>
          <p:cNvSpPr/>
          <p:nvPr/>
        </p:nvSpPr>
        <p:spPr>
          <a:xfrm>
            <a:off x="157000" y="1343549"/>
            <a:ext cx="3020400" cy="3728100"/>
          </a:xfrm>
          <a:prstGeom prst="roundRect">
            <a:avLst>
              <a:gd fmla="val 16667" name="adj"/>
            </a:avLst>
          </a:prstGeom>
          <a:solidFill>
            <a:schemeClr val="lt2"/>
          </a:solidFill>
          <a:ln cap="flat" cmpd="sng" w="6475">
            <a:solidFill>
              <a:schemeClr val="dk2"/>
            </a:solidFill>
            <a:prstDash val="solid"/>
            <a:round/>
            <a:headEnd len="sm" w="sm" type="none"/>
            <a:tailEnd len="sm" w="sm" type="none"/>
          </a:ln>
        </p:spPr>
        <p:txBody>
          <a:bodyPr anchorCtr="0" anchor="ctr" bIns="62025" lIns="62025" spcFirstLastPara="1" rIns="62025" wrap="square" tIns="62025">
            <a:noAutofit/>
          </a:bodyPr>
          <a:lstStyle/>
          <a:p>
            <a:pPr indent="0" lvl="0" marL="0" rtl="0" algn="ctr">
              <a:spcBef>
                <a:spcPts val="0"/>
              </a:spcBef>
              <a:spcAft>
                <a:spcPts val="0"/>
              </a:spcAft>
              <a:buNone/>
            </a:pPr>
            <a:r>
              <a:t/>
            </a:r>
            <a:endParaRPr sz="950"/>
          </a:p>
        </p:txBody>
      </p:sp>
      <p:sp>
        <p:nvSpPr>
          <p:cNvPr id="114" name="Google Shape;114;p18"/>
          <p:cNvSpPr txBox="1"/>
          <p:nvPr/>
        </p:nvSpPr>
        <p:spPr>
          <a:xfrm>
            <a:off x="417688" y="164100"/>
            <a:ext cx="1171800" cy="290100"/>
          </a:xfrm>
          <a:prstGeom prst="rect">
            <a:avLst/>
          </a:prstGeom>
          <a:noFill/>
          <a:ln>
            <a:noFill/>
          </a:ln>
        </p:spPr>
        <p:txBody>
          <a:bodyPr anchorCtr="0" anchor="t" bIns="78350" lIns="78350" spcFirstLastPara="1" rIns="78350" wrap="square" tIns="78350">
            <a:spAutoFit/>
          </a:bodyPr>
          <a:lstStyle/>
          <a:p>
            <a:pPr indent="0" lvl="0" marL="0" rtl="0" algn="l">
              <a:spcBef>
                <a:spcPts val="0"/>
              </a:spcBef>
              <a:spcAft>
                <a:spcPts val="0"/>
              </a:spcAft>
              <a:buNone/>
            </a:pPr>
            <a:r>
              <a:rPr b="1" lang="en" sz="857"/>
              <a:t>The Core Idea</a:t>
            </a:r>
            <a:endParaRPr b="1" sz="857"/>
          </a:p>
        </p:txBody>
      </p:sp>
      <p:sp>
        <p:nvSpPr>
          <p:cNvPr id="115" name="Google Shape;115;p18"/>
          <p:cNvSpPr txBox="1"/>
          <p:nvPr/>
        </p:nvSpPr>
        <p:spPr>
          <a:xfrm>
            <a:off x="596189" y="321595"/>
            <a:ext cx="2686800" cy="844200"/>
          </a:xfrm>
          <a:prstGeom prst="rect">
            <a:avLst/>
          </a:prstGeom>
          <a:noFill/>
          <a:ln>
            <a:noFill/>
          </a:ln>
        </p:spPr>
        <p:txBody>
          <a:bodyPr anchorCtr="0" anchor="t" bIns="78350" lIns="78350" spcFirstLastPara="1" rIns="78350" wrap="square" tIns="78350">
            <a:spAutoFit/>
          </a:bodyPr>
          <a:lstStyle/>
          <a:p>
            <a:pPr indent="0" lvl="0" marL="0" rtl="0" algn="l">
              <a:spcBef>
                <a:spcPts val="0"/>
              </a:spcBef>
              <a:spcAft>
                <a:spcPts val="0"/>
              </a:spcAft>
              <a:buNone/>
            </a:pPr>
            <a:r>
              <a:rPr lang="en" sz="743"/>
              <a:t>An AI-assisted, hybrid software-and-hardware system that creates a Dynamic Emergency Corridor for ambulances.</a:t>
            </a:r>
            <a:endParaRPr sz="743"/>
          </a:p>
          <a:p>
            <a:pPr indent="0" lvl="0" marL="0" rtl="0" algn="l">
              <a:spcBef>
                <a:spcPts val="0"/>
              </a:spcBef>
              <a:spcAft>
                <a:spcPts val="0"/>
              </a:spcAft>
              <a:buNone/>
            </a:pPr>
            <a:r>
              <a:rPr lang="en" sz="743"/>
              <a:t>It combines GPS/GIS, dynamic route planning, traffic prediction, RF/V2X communication, driver alerts and coordinated traffic signals to support the ambulance from the emergency call to the hospital.</a:t>
            </a:r>
            <a:endParaRPr sz="743"/>
          </a:p>
        </p:txBody>
      </p:sp>
      <p:sp>
        <p:nvSpPr>
          <p:cNvPr id="116" name="Google Shape;116;p18"/>
          <p:cNvSpPr txBox="1"/>
          <p:nvPr/>
        </p:nvSpPr>
        <p:spPr>
          <a:xfrm>
            <a:off x="283987" y="1479605"/>
            <a:ext cx="2893500" cy="3663900"/>
          </a:xfrm>
          <a:prstGeom prst="rect">
            <a:avLst/>
          </a:prstGeom>
          <a:noFill/>
          <a:ln>
            <a:noFill/>
          </a:ln>
        </p:spPr>
        <p:txBody>
          <a:bodyPr anchorCtr="0" anchor="t" bIns="62025" lIns="62025" spcFirstLastPara="1" rIns="62025" wrap="square" tIns="62025">
            <a:spAutoFit/>
          </a:bodyPr>
          <a:lstStyle/>
          <a:p>
            <a:pPr indent="0" lvl="0" marL="0" rtl="0" algn="l">
              <a:lnSpc>
                <a:spcPct val="115000"/>
              </a:lnSpc>
              <a:spcBef>
                <a:spcPts val="1108"/>
              </a:spcBef>
              <a:spcAft>
                <a:spcPts val="0"/>
              </a:spcAft>
              <a:buNone/>
            </a:pPr>
            <a:r>
              <a:rPr b="1" lang="en" sz="871">
                <a:solidFill>
                  <a:schemeClr val="dk1"/>
                </a:solidFill>
              </a:rPr>
              <a:t>HOW THE SOLUTION WORKS</a:t>
            </a:r>
            <a:endParaRPr b="1" sz="871">
              <a:solidFill>
                <a:schemeClr val="dk1"/>
              </a:solidFill>
            </a:endParaRPr>
          </a:p>
          <a:p>
            <a:pPr indent="-195283" lvl="0" marL="310137" rtl="0" algn="l">
              <a:lnSpc>
                <a:spcPct val="115000"/>
              </a:lnSpc>
              <a:spcBef>
                <a:spcPts val="950"/>
              </a:spcBef>
              <a:spcAft>
                <a:spcPts val="0"/>
              </a:spcAft>
              <a:buClr>
                <a:schemeClr val="dk1"/>
              </a:buClr>
              <a:buSzPts val="633"/>
              <a:buChar char="●"/>
            </a:pPr>
            <a:r>
              <a:rPr b="1" lang="en" sz="712">
                <a:solidFill>
                  <a:schemeClr val="dk1"/>
                </a:solidFill>
              </a:rPr>
              <a:t>1. Emergency Location Identification</a:t>
            </a:r>
            <a:br>
              <a:rPr b="1" lang="en" sz="712">
                <a:solidFill>
                  <a:schemeClr val="dk1"/>
                </a:solidFill>
              </a:rPr>
            </a:br>
            <a:r>
              <a:rPr lang="en" sz="712">
                <a:solidFill>
                  <a:schemeClr val="dk1"/>
                </a:solidFill>
              </a:rPr>
              <a:t>Identify and verify the incident location using caller information, landmarks and available location data.</a:t>
            </a:r>
            <a:endParaRPr sz="712">
              <a:solidFill>
                <a:schemeClr val="dk1"/>
              </a:solidFill>
            </a:endParaRPr>
          </a:p>
          <a:p>
            <a:pPr indent="-195283" lvl="0" marL="310137" rtl="0" algn="l">
              <a:lnSpc>
                <a:spcPct val="115000"/>
              </a:lnSpc>
              <a:spcBef>
                <a:spcPts val="0"/>
              </a:spcBef>
              <a:spcAft>
                <a:spcPts val="0"/>
              </a:spcAft>
              <a:buClr>
                <a:schemeClr val="dk1"/>
              </a:buClr>
              <a:buSzPts val="633"/>
              <a:buChar char="●"/>
            </a:pPr>
            <a:r>
              <a:rPr b="1" lang="en" sz="712">
                <a:solidFill>
                  <a:schemeClr val="dk1"/>
                </a:solidFill>
              </a:rPr>
              <a:t>2. Dynamic Route Planning</a:t>
            </a:r>
            <a:br>
              <a:rPr b="1" lang="en" sz="712">
                <a:solidFill>
                  <a:schemeClr val="dk1"/>
                </a:solidFill>
              </a:rPr>
            </a:br>
            <a:r>
              <a:rPr lang="en" sz="712">
                <a:solidFill>
                  <a:schemeClr val="dk1"/>
                </a:solidFill>
              </a:rPr>
              <a:t>Generate multiple routes and select a suitable route using current and predicted traffic conditions.</a:t>
            </a:r>
            <a:endParaRPr sz="712">
              <a:solidFill>
                <a:schemeClr val="dk1"/>
              </a:solidFill>
            </a:endParaRPr>
          </a:p>
          <a:p>
            <a:pPr indent="-195283" lvl="0" marL="310137" rtl="0" algn="l">
              <a:lnSpc>
                <a:spcPct val="115000"/>
              </a:lnSpc>
              <a:spcBef>
                <a:spcPts val="0"/>
              </a:spcBef>
              <a:spcAft>
                <a:spcPts val="0"/>
              </a:spcAft>
              <a:buClr>
                <a:schemeClr val="dk1"/>
              </a:buClr>
              <a:buSzPts val="633"/>
              <a:buChar char="●"/>
            </a:pPr>
            <a:r>
              <a:rPr b="1" lang="en" sz="712">
                <a:solidFill>
                  <a:schemeClr val="dk1"/>
                </a:solidFill>
              </a:rPr>
              <a:t>3. Dynamic Emergency Corridor</a:t>
            </a:r>
            <a:br>
              <a:rPr b="1" lang="en" sz="712">
                <a:solidFill>
                  <a:schemeClr val="dk1"/>
                </a:solidFill>
              </a:rPr>
            </a:br>
            <a:r>
              <a:rPr lang="en" sz="712">
                <a:solidFill>
                  <a:schemeClr val="dk1"/>
                </a:solidFill>
              </a:rPr>
              <a:t>Create a coordinated corridor along the ambulance's predicted route.</a:t>
            </a:r>
            <a:endParaRPr sz="712">
              <a:solidFill>
                <a:schemeClr val="dk1"/>
              </a:solidFill>
            </a:endParaRPr>
          </a:p>
          <a:p>
            <a:pPr indent="-195283" lvl="0" marL="310137" rtl="0" algn="l">
              <a:lnSpc>
                <a:spcPct val="115000"/>
              </a:lnSpc>
              <a:spcBef>
                <a:spcPts val="0"/>
              </a:spcBef>
              <a:spcAft>
                <a:spcPts val="0"/>
              </a:spcAft>
              <a:buClr>
                <a:schemeClr val="dk1"/>
              </a:buClr>
              <a:buSzPts val="633"/>
              <a:buChar char="●"/>
            </a:pPr>
            <a:r>
              <a:rPr b="1" lang="en" sz="712">
                <a:solidFill>
                  <a:schemeClr val="dk1"/>
                </a:solidFill>
              </a:rPr>
              <a:t>4. RF / V2X Communication</a:t>
            </a:r>
            <a:br>
              <a:rPr b="1" lang="en" sz="712">
                <a:solidFill>
                  <a:schemeClr val="dk1"/>
                </a:solidFill>
              </a:rPr>
            </a:br>
            <a:r>
              <a:rPr lang="en" sz="712">
                <a:solidFill>
                  <a:schemeClr val="dk1"/>
                </a:solidFill>
              </a:rPr>
              <a:t>The ambulance transmits its emergency status, position and direction to traffic infrastructure and, in the future, connected vehicles.</a:t>
            </a:r>
            <a:endParaRPr sz="712">
              <a:solidFill>
                <a:schemeClr val="dk1"/>
              </a:solidFill>
            </a:endParaRPr>
          </a:p>
          <a:p>
            <a:pPr indent="-195283" lvl="0" marL="310137" rtl="0" algn="l">
              <a:lnSpc>
                <a:spcPct val="115000"/>
              </a:lnSpc>
              <a:spcBef>
                <a:spcPts val="0"/>
              </a:spcBef>
              <a:spcAft>
                <a:spcPts val="0"/>
              </a:spcAft>
              <a:buClr>
                <a:schemeClr val="dk1"/>
              </a:buClr>
              <a:buSzPts val="633"/>
              <a:buChar char="●"/>
            </a:pPr>
            <a:r>
              <a:rPr b="1" lang="en" sz="712">
                <a:solidFill>
                  <a:schemeClr val="dk1"/>
                </a:solidFill>
              </a:rPr>
              <a:t>5. ETA-Based Signal Coordination</a:t>
            </a:r>
            <a:br>
              <a:rPr b="1" lang="en" sz="712">
                <a:solidFill>
                  <a:schemeClr val="dk1"/>
                </a:solidFill>
              </a:rPr>
            </a:br>
            <a:r>
              <a:rPr lang="en" sz="712">
                <a:solidFill>
                  <a:schemeClr val="dk1"/>
                </a:solidFill>
              </a:rPr>
              <a:t>Estimate the ambulance's arrival time and prepare upcoming traffic signals before it reaches them.</a:t>
            </a:r>
            <a:endParaRPr sz="712">
              <a:solidFill>
                <a:schemeClr val="dk1"/>
              </a:solidFill>
            </a:endParaRPr>
          </a:p>
          <a:p>
            <a:pPr indent="-195283" lvl="0" marL="310137" rtl="0" algn="l">
              <a:lnSpc>
                <a:spcPct val="115000"/>
              </a:lnSpc>
              <a:spcBef>
                <a:spcPts val="0"/>
              </a:spcBef>
              <a:spcAft>
                <a:spcPts val="0"/>
              </a:spcAft>
              <a:buClr>
                <a:schemeClr val="dk1"/>
              </a:buClr>
              <a:buSzPts val="633"/>
              <a:buChar char="●"/>
            </a:pPr>
            <a:r>
              <a:rPr b="1" lang="en" sz="712">
                <a:solidFill>
                  <a:schemeClr val="dk1"/>
                </a:solidFill>
              </a:rPr>
              <a:t>6. Driver Alerts &amp; Traffic Monitoring</a:t>
            </a:r>
            <a:br>
              <a:rPr b="1" lang="en" sz="712">
                <a:solidFill>
                  <a:schemeClr val="dk1"/>
                </a:solidFill>
              </a:rPr>
            </a:br>
            <a:r>
              <a:rPr lang="en" sz="712">
                <a:solidFill>
                  <a:schemeClr val="dk1"/>
                </a:solidFill>
              </a:rPr>
              <a:t>Alert nearby road users and monitor queues, blocked intersections and changing traffic conditions.</a:t>
            </a:r>
            <a:endParaRPr sz="712">
              <a:solidFill>
                <a:schemeClr val="dk1"/>
              </a:solidFill>
            </a:endParaRPr>
          </a:p>
          <a:p>
            <a:pPr indent="-195283" lvl="0" marL="310137" rtl="0" algn="l">
              <a:lnSpc>
                <a:spcPct val="115000"/>
              </a:lnSpc>
              <a:spcBef>
                <a:spcPts val="0"/>
              </a:spcBef>
              <a:spcAft>
                <a:spcPts val="0"/>
              </a:spcAft>
              <a:buClr>
                <a:schemeClr val="dk1"/>
              </a:buClr>
              <a:buSzPts val="633"/>
              <a:buChar char="●"/>
            </a:pPr>
            <a:r>
              <a:rPr b="1" lang="en" sz="712">
                <a:solidFill>
                  <a:schemeClr val="dk1"/>
                </a:solidFill>
              </a:rPr>
              <a:t>7. Route Recalculation</a:t>
            </a:r>
            <a:br>
              <a:rPr b="1" lang="en" sz="712">
                <a:solidFill>
                  <a:schemeClr val="dk1"/>
                </a:solidFill>
              </a:rPr>
            </a:br>
            <a:r>
              <a:rPr lang="en" sz="712">
                <a:solidFill>
                  <a:schemeClr val="dk1"/>
                </a:solidFill>
              </a:rPr>
              <a:t>If unexpected congestion or blockage occurs, reassess the route and select an alternative when appropriate.</a:t>
            </a:r>
            <a:endParaRPr sz="712">
              <a:solidFill>
                <a:schemeClr val="dk1"/>
              </a:solidFill>
            </a:endParaRPr>
          </a:p>
          <a:p>
            <a:pPr indent="-195283" lvl="0" marL="310137" rtl="0" algn="l">
              <a:lnSpc>
                <a:spcPct val="115000"/>
              </a:lnSpc>
              <a:spcBef>
                <a:spcPts val="0"/>
              </a:spcBef>
              <a:spcAft>
                <a:spcPts val="0"/>
              </a:spcAft>
              <a:buClr>
                <a:schemeClr val="dk1"/>
              </a:buClr>
              <a:buSzPts val="633"/>
              <a:buChar char="●"/>
            </a:pPr>
            <a:r>
              <a:rPr b="1" lang="en" sz="712">
                <a:solidFill>
                  <a:schemeClr val="dk1"/>
                </a:solidFill>
              </a:rPr>
              <a:t>8. Hospital Journey</a:t>
            </a:r>
            <a:br>
              <a:rPr b="1" lang="en" sz="712">
                <a:solidFill>
                  <a:schemeClr val="dk1"/>
                </a:solidFill>
              </a:rPr>
            </a:br>
            <a:r>
              <a:rPr lang="en" sz="712">
                <a:solidFill>
                  <a:schemeClr val="dk1"/>
                </a:solidFill>
              </a:rPr>
              <a:t>After reaching the accident scene, select a suitable and reachable hospital and activate the emergency corridor again.</a:t>
            </a:r>
            <a:endParaRPr b="1" sz="712">
              <a:solidFill>
                <a:schemeClr val="dk1"/>
              </a:solidFill>
            </a:endParaRPr>
          </a:p>
        </p:txBody>
      </p:sp>
      <p:pic>
        <p:nvPicPr>
          <p:cNvPr id="117" name="Google Shape;117;p18"/>
          <p:cNvPicPr preferRelativeResize="0"/>
          <p:nvPr/>
        </p:nvPicPr>
        <p:blipFill>
          <a:blip r:embed="rId3">
            <a:alphaModFix/>
          </a:blip>
          <a:stretch>
            <a:fillRect/>
          </a:stretch>
        </p:blipFill>
        <p:spPr>
          <a:xfrm>
            <a:off x="3362325" y="942238"/>
            <a:ext cx="5729176" cy="32590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F4F3"/>
        </a:solidFill>
      </p:bgPr>
    </p:bg>
    <p:spTree>
      <p:nvGrpSpPr>
        <p:cNvPr id="121" name="Shape 121"/>
        <p:cNvGrpSpPr/>
        <p:nvPr/>
      </p:nvGrpSpPr>
      <p:grpSpPr>
        <a:xfrm>
          <a:off x="0" y="0"/>
          <a:ext cx="0" cy="0"/>
          <a:chOff x="0" y="0"/>
          <a:chExt cx="0" cy="0"/>
        </a:xfrm>
      </p:grpSpPr>
      <p:sp>
        <p:nvSpPr>
          <p:cNvPr id="122" name="Google Shape;122;p19"/>
          <p:cNvSpPr txBox="1"/>
          <p:nvPr/>
        </p:nvSpPr>
        <p:spPr>
          <a:xfrm>
            <a:off x="157000" y="115350"/>
            <a:ext cx="49938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rgbClr val="16323F"/>
                </a:solidFill>
              </a:rPr>
              <a:t>Feasibility &amp; Implementation </a:t>
            </a:r>
            <a:endParaRPr b="1" sz="1700">
              <a:solidFill>
                <a:srgbClr val="16323F"/>
              </a:solidFill>
            </a:endParaRPr>
          </a:p>
        </p:txBody>
      </p:sp>
      <p:sp>
        <p:nvSpPr>
          <p:cNvPr id="123" name="Google Shape;123;p19"/>
          <p:cNvSpPr/>
          <p:nvPr/>
        </p:nvSpPr>
        <p:spPr>
          <a:xfrm>
            <a:off x="157000" y="1048275"/>
            <a:ext cx="2835900" cy="2375400"/>
          </a:xfrm>
          <a:prstGeom prst="roundRect">
            <a:avLst>
              <a:gd fmla="val 16667" name="adj"/>
            </a:avLst>
          </a:prstGeom>
          <a:solidFill>
            <a:schemeClr val="lt2"/>
          </a:solidFill>
          <a:ln cap="flat" cmpd="sng" w="10475">
            <a:solidFill>
              <a:schemeClr val="dk2"/>
            </a:solidFill>
            <a:prstDash val="solid"/>
            <a:round/>
            <a:headEnd len="sm" w="sm" type="none"/>
            <a:tailEnd len="sm" w="sm" type="none"/>
          </a:ln>
        </p:spPr>
        <p:txBody>
          <a:bodyPr anchorCtr="0" anchor="ctr" bIns="100475" lIns="100475" spcFirstLastPara="1" rIns="100475" wrap="square" tIns="100475">
            <a:noAutofit/>
          </a:bodyPr>
          <a:lstStyle/>
          <a:p>
            <a:pPr indent="-298450" lvl="0" marL="457200" rtl="0" algn="l">
              <a:lnSpc>
                <a:spcPct val="100000"/>
              </a:lnSpc>
              <a:spcBef>
                <a:spcPts val="0"/>
              </a:spcBef>
              <a:spcAft>
                <a:spcPts val="0"/>
              </a:spcAft>
              <a:buClr>
                <a:schemeClr val="dk1"/>
              </a:buClr>
              <a:buSzPts val="1100"/>
              <a:buChar char="●"/>
            </a:pPr>
            <a:r>
              <a:rPr b="1" lang="en" sz="1100">
                <a:solidFill>
                  <a:schemeClr val="dk1"/>
                </a:solidFill>
              </a:rPr>
              <a:t>433 MHz RF modules</a:t>
            </a:r>
            <a:r>
              <a:rPr lang="en" sz="1100">
                <a:solidFill>
                  <a:schemeClr val="dk1"/>
                </a:solidFill>
              </a:rPr>
              <a:t> for the working prototype</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b="1" lang="en" sz="1100">
                <a:solidFill>
                  <a:schemeClr val="dk1"/>
                </a:solidFill>
              </a:rPr>
              <a:t>Microcontrollers, relays and traffic-signal components</a:t>
            </a:r>
            <a:endParaRPr b="1" sz="1100">
              <a:solidFill>
                <a:schemeClr val="dk1"/>
              </a:solidFill>
            </a:endParaRPr>
          </a:p>
          <a:p>
            <a:pPr indent="-298450" lvl="0" marL="457200" rtl="0" algn="l">
              <a:lnSpc>
                <a:spcPct val="100000"/>
              </a:lnSpc>
              <a:spcBef>
                <a:spcPts val="0"/>
              </a:spcBef>
              <a:spcAft>
                <a:spcPts val="0"/>
              </a:spcAft>
              <a:buClr>
                <a:schemeClr val="dk1"/>
              </a:buClr>
              <a:buSzPts val="1100"/>
              <a:buChar char="●"/>
            </a:pPr>
            <a:r>
              <a:rPr b="1" lang="en" sz="1100">
                <a:solidFill>
                  <a:schemeClr val="dk1"/>
                </a:solidFill>
              </a:rPr>
              <a:t>GPS/GIS and communication systems</a:t>
            </a:r>
            <a:r>
              <a:rPr lang="en" sz="1100">
                <a:solidFill>
                  <a:schemeClr val="dk1"/>
                </a:solidFill>
              </a:rPr>
              <a:t> for the future implementation</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b="1" lang="en" sz="1100">
                <a:solidFill>
                  <a:schemeClr val="dk1"/>
                </a:solidFill>
              </a:rPr>
              <a:t>Traffic sensors/cameras</a:t>
            </a:r>
            <a:r>
              <a:rPr lang="en" sz="1100">
                <a:solidFill>
                  <a:schemeClr val="dk1"/>
                </a:solidFill>
              </a:rPr>
              <a:t> for monitoring congestion and blockages</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 sz="1100">
                <a:solidFill>
                  <a:schemeClr val="dk1"/>
                </a:solidFill>
              </a:rPr>
              <a:t>Technical support for roadside installation, calibration and maintenance</a:t>
            </a:r>
            <a:endParaRPr sz="1209">
              <a:solidFill>
                <a:schemeClr val="dk1"/>
              </a:solidFill>
            </a:endParaRPr>
          </a:p>
        </p:txBody>
      </p:sp>
      <p:sp>
        <p:nvSpPr>
          <p:cNvPr id="124" name="Google Shape;124;p19"/>
          <p:cNvSpPr txBox="1"/>
          <p:nvPr/>
        </p:nvSpPr>
        <p:spPr>
          <a:xfrm>
            <a:off x="214919" y="506404"/>
            <a:ext cx="2739300" cy="405900"/>
          </a:xfrm>
          <a:prstGeom prst="rect">
            <a:avLst/>
          </a:prstGeom>
          <a:noFill/>
          <a:ln>
            <a:noFill/>
          </a:ln>
        </p:spPr>
        <p:txBody>
          <a:bodyPr anchorCtr="0" anchor="t" bIns="100475" lIns="100475" spcFirstLastPara="1" rIns="100475" wrap="square" tIns="100475">
            <a:spAutoFit/>
          </a:bodyPr>
          <a:lstStyle/>
          <a:p>
            <a:pPr indent="0" lvl="0" marL="0" rtl="0" algn="l">
              <a:spcBef>
                <a:spcPts val="0"/>
              </a:spcBef>
              <a:spcAft>
                <a:spcPts val="0"/>
              </a:spcAft>
              <a:buNone/>
            </a:pPr>
            <a:r>
              <a:rPr b="1" lang="en" sz="1319"/>
              <a:t>Required Resources </a:t>
            </a:r>
            <a:endParaRPr b="1" sz="1319"/>
          </a:p>
        </p:txBody>
      </p:sp>
      <p:sp>
        <p:nvSpPr>
          <p:cNvPr id="125" name="Google Shape;125;p19"/>
          <p:cNvSpPr/>
          <p:nvPr/>
        </p:nvSpPr>
        <p:spPr>
          <a:xfrm>
            <a:off x="166625" y="3717900"/>
            <a:ext cx="2835900" cy="1425600"/>
          </a:xfrm>
          <a:prstGeom prst="roundRect">
            <a:avLst>
              <a:gd fmla="val 16667" name="adj"/>
            </a:avLst>
          </a:prstGeom>
          <a:solidFill>
            <a:schemeClr val="lt2"/>
          </a:solidFill>
          <a:ln cap="flat" cmpd="sng" w="10475">
            <a:solidFill>
              <a:schemeClr val="dk2"/>
            </a:solidFill>
            <a:prstDash val="solid"/>
            <a:round/>
            <a:headEnd len="sm" w="sm" type="none"/>
            <a:tailEnd len="sm" w="sm" type="none"/>
          </a:ln>
        </p:spPr>
        <p:txBody>
          <a:bodyPr anchorCtr="0" anchor="ctr" bIns="100475" lIns="100475" spcFirstLastPara="1" rIns="100475" wrap="square" tIns="100475">
            <a:noAutofit/>
          </a:bodyPr>
          <a:lstStyle/>
          <a:p>
            <a:pPr indent="0" lvl="0" marL="0" rtl="0" algn="l">
              <a:lnSpc>
                <a:spcPct val="115000"/>
              </a:lnSpc>
              <a:spcBef>
                <a:spcPts val="0"/>
              </a:spcBef>
              <a:spcAft>
                <a:spcPts val="0"/>
              </a:spcAft>
              <a:buClr>
                <a:schemeClr val="dk1"/>
              </a:buClr>
              <a:buSzPts val="1100"/>
              <a:buFont typeface="Arial"/>
              <a:buNone/>
            </a:pPr>
            <a:r>
              <a:rPr lang="en" sz="1100">
                <a:solidFill>
                  <a:schemeClr val="dk1"/>
                </a:solidFill>
              </a:rPr>
              <a:t>Traffic Police</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100">
                <a:solidFill>
                  <a:schemeClr val="dk1"/>
                </a:solidFill>
              </a:rPr>
              <a:t>Emergency Medical Services</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100">
                <a:solidFill>
                  <a:schemeClr val="dk1"/>
                </a:solidFill>
              </a:rPr>
              <a:t>Road &amp; traffic-management authorities</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100">
                <a:solidFill>
                  <a:schemeClr val="dk1"/>
                </a:solidFill>
              </a:rPr>
              <a:t>Municipal/local authorities</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100">
                <a:solidFill>
                  <a:schemeClr val="dk1"/>
                </a:solidFill>
              </a:rPr>
              <a:t>Hospitals</a:t>
            </a:r>
            <a:endParaRPr sz="1100">
              <a:solidFill>
                <a:schemeClr val="dk1"/>
              </a:solidFill>
            </a:endParaRPr>
          </a:p>
          <a:p>
            <a:pPr indent="0" lvl="0" marL="0" rtl="0" algn="l">
              <a:lnSpc>
                <a:spcPct val="115000"/>
              </a:lnSpc>
              <a:spcBef>
                <a:spcPts val="0"/>
              </a:spcBef>
              <a:spcAft>
                <a:spcPts val="0"/>
              </a:spcAft>
              <a:buNone/>
            </a:pPr>
            <a:r>
              <a:rPr lang="en" sz="1100">
                <a:solidFill>
                  <a:schemeClr val="dk1"/>
                </a:solidFill>
              </a:rPr>
              <a:t>Technology and maintenance teams</a:t>
            </a:r>
            <a:endParaRPr sz="1100">
              <a:solidFill>
                <a:schemeClr val="dk1"/>
              </a:solidFill>
            </a:endParaRPr>
          </a:p>
        </p:txBody>
      </p:sp>
      <p:sp>
        <p:nvSpPr>
          <p:cNvPr id="126" name="Google Shape;126;p19"/>
          <p:cNvSpPr txBox="1"/>
          <p:nvPr/>
        </p:nvSpPr>
        <p:spPr>
          <a:xfrm>
            <a:off x="214929" y="3311990"/>
            <a:ext cx="4071300" cy="405900"/>
          </a:xfrm>
          <a:prstGeom prst="rect">
            <a:avLst/>
          </a:prstGeom>
          <a:noFill/>
          <a:ln>
            <a:noFill/>
          </a:ln>
        </p:spPr>
        <p:txBody>
          <a:bodyPr anchorCtr="0" anchor="t" bIns="100475" lIns="100475" spcFirstLastPara="1" rIns="100475" wrap="square" tIns="100475">
            <a:spAutoFit/>
          </a:bodyPr>
          <a:lstStyle/>
          <a:p>
            <a:pPr indent="0" lvl="0" marL="0" rtl="0" algn="l">
              <a:spcBef>
                <a:spcPts val="0"/>
              </a:spcBef>
              <a:spcAft>
                <a:spcPts val="0"/>
              </a:spcAft>
              <a:buNone/>
            </a:pPr>
            <a:r>
              <a:rPr b="1" lang="en" sz="1319"/>
              <a:t>Key Stakeholders &amp; Permissions </a:t>
            </a:r>
            <a:endParaRPr b="1" sz="1319"/>
          </a:p>
        </p:txBody>
      </p:sp>
      <p:sp>
        <p:nvSpPr>
          <p:cNvPr id="127" name="Google Shape;127;p19"/>
          <p:cNvSpPr/>
          <p:nvPr/>
        </p:nvSpPr>
        <p:spPr>
          <a:xfrm>
            <a:off x="3621800" y="153450"/>
            <a:ext cx="5427600" cy="2634600"/>
          </a:xfrm>
          <a:prstGeom prst="roundRect">
            <a:avLst>
              <a:gd fmla="val 16667" name="adj"/>
            </a:avLst>
          </a:prstGeom>
          <a:solidFill>
            <a:schemeClr val="lt2"/>
          </a:solidFill>
          <a:ln cap="flat" cmpd="sng" w="10525">
            <a:solidFill>
              <a:schemeClr val="dk2"/>
            </a:solidFill>
            <a:prstDash val="solid"/>
            <a:round/>
            <a:headEnd len="sm" w="sm" type="none"/>
            <a:tailEnd len="sm" w="sm" type="none"/>
          </a:ln>
        </p:spPr>
        <p:txBody>
          <a:bodyPr anchorCtr="0" anchor="ctr" bIns="101075" lIns="101075" spcFirstLastPara="1" rIns="101075" wrap="square" tIns="101075">
            <a:noAutofit/>
          </a:bodyPr>
          <a:lstStyle/>
          <a:p>
            <a:pPr indent="0" lvl="0" marL="0" rtl="0" algn="l">
              <a:lnSpc>
                <a:spcPct val="115000"/>
              </a:lnSpc>
              <a:spcBef>
                <a:spcPts val="1200"/>
              </a:spcBef>
              <a:spcAft>
                <a:spcPts val="0"/>
              </a:spcAft>
              <a:buClr>
                <a:schemeClr val="dk1"/>
              </a:buClr>
              <a:buSzPts val="1100"/>
              <a:buFont typeface="Arial"/>
              <a:buNone/>
            </a:pPr>
            <a:r>
              <a:rPr b="1" lang="en" sz="900">
                <a:solidFill>
                  <a:schemeClr val="dk1"/>
                </a:solidFill>
              </a:rPr>
              <a:t>Signal Spoofing</a:t>
            </a:r>
            <a:endParaRPr b="1" sz="900">
              <a:solidFill>
                <a:schemeClr val="dk1"/>
              </a:solidFill>
            </a:endParaRPr>
          </a:p>
          <a:p>
            <a:pPr indent="-285750" lvl="0" marL="457200" rtl="0" algn="l">
              <a:lnSpc>
                <a:spcPct val="115000"/>
              </a:lnSpc>
              <a:spcBef>
                <a:spcPts val="1200"/>
              </a:spcBef>
              <a:spcAft>
                <a:spcPts val="0"/>
              </a:spcAft>
              <a:buClr>
                <a:schemeClr val="dk1"/>
              </a:buClr>
              <a:buSzPts val="900"/>
              <a:buChar char="●"/>
            </a:pPr>
            <a:r>
              <a:rPr lang="en" sz="900">
                <a:solidFill>
                  <a:schemeClr val="dk1"/>
                </a:solidFill>
              </a:rPr>
              <a:t>Use unique ambulance identification and authenticated communication</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Allow signal priority only for verified emergency vehicles</a:t>
            </a:r>
            <a:endParaRPr sz="9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900">
                <a:solidFill>
                  <a:schemeClr val="dk1"/>
                </a:solidFill>
              </a:rPr>
              <a:t>Signal Interference</a:t>
            </a:r>
            <a:endParaRPr b="1" sz="900">
              <a:solidFill>
                <a:schemeClr val="dk1"/>
              </a:solidFill>
            </a:endParaRPr>
          </a:p>
          <a:p>
            <a:pPr indent="-285750" lvl="0" marL="457200" rtl="0" algn="l">
              <a:lnSpc>
                <a:spcPct val="115000"/>
              </a:lnSpc>
              <a:spcBef>
                <a:spcPts val="1200"/>
              </a:spcBef>
              <a:spcAft>
                <a:spcPts val="0"/>
              </a:spcAft>
              <a:buClr>
                <a:schemeClr val="dk1"/>
              </a:buClr>
              <a:buSzPts val="900"/>
              <a:buChar char="●"/>
            </a:pPr>
            <a:r>
              <a:rPr lang="en" sz="900">
                <a:solidFill>
                  <a:schemeClr val="dk1"/>
                </a:solidFill>
              </a:rPr>
              <a:t>Use reliable communication protocols and receiver calibration</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Monitor for false or repeated signals</a:t>
            </a:r>
            <a:endParaRPr sz="9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900">
                <a:solidFill>
                  <a:schemeClr val="dk1"/>
                </a:solidFill>
              </a:rPr>
              <a:t>Changing Traffic Conditions</a:t>
            </a:r>
            <a:endParaRPr b="1" sz="900">
              <a:solidFill>
                <a:schemeClr val="dk1"/>
              </a:solidFill>
            </a:endParaRPr>
          </a:p>
          <a:p>
            <a:pPr indent="-285750" lvl="0" marL="457200" rtl="0" algn="l">
              <a:lnSpc>
                <a:spcPct val="115000"/>
              </a:lnSpc>
              <a:spcBef>
                <a:spcPts val="1200"/>
              </a:spcBef>
              <a:spcAft>
                <a:spcPts val="0"/>
              </a:spcAft>
              <a:buClr>
                <a:schemeClr val="dk1"/>
              </a:buClr>
              <a:buSzPts val="900"/>
              <a:buChar char="●"/>
            </a:pPr>
            <a:r>
              <a:rPr lang="en" sz="900">
                <a:solidFill>
                  <a:schemeClr val="dk1"/>
                </a:solidFill>
              </a:rPr>
              <a:t>Continuously monitor the route</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Recalculate the route when major congestion or blockage is detected</a:t>
            </a:r>
            <a:endParaRPr sz="900">
              <a:solidFill>
                <a:schemeClr val="dk1"/>
              </a:solidFill>
            </a:endParaRPr>
          </a:p>
          <a:p>
            <a:pPr indent="0" lvl="0" marL="0" rtl="0" algn="l">
              <a:lnSpc>
                <a:spcPct val="115000"/>
              </a:lnSpc>
              <a:spcBef>
                <a:spcPts val="1200"/>
              </a:spcBef>
              <a:spcAft>
                <a:spcPts val="0"/>
              </a:spcAft>
              <a:buNone/>
            </a:pPr>
            <a:r>
              <a:t/>
            </a:r>
            <a:endParaRPr sz="1016">
              <a:solidFill>
                <a:schemeClr val="dk1"/>
              </a:solidFill>
            </a:endParaRPr>
          </a:p>
        </p:txBody>
      </p:sp>
      <p:sp>
        <p:nvSpPr>
          <p:cNvPr id="128" name="Google Shape;128;p19"/>
          <p:cNvSpPr txBox="1"/>
          <p:nvPr/>
        </p:nvSpPr>
        <p:spPr>
          <a:xfrm>
            <a:off x="4888771" y="153450"/>
            <a:ext cx="3231600" cy="408300"/>
          </a:xfrm>
          <a:prstGeom prst="rect">
            <a:avLst/>
          </a:prstGeom>
          <a:noFill/>
          <a:ln>
            <a:noFill/>
          </a:ln>
        </p:spPr>
        <p:txBody>
          <a:bodyPr anchorCtr="0" anchor="t" bIns="101075" lIns="101075" spcFirstLastPara="1" rIns="101075" wrap="square" tIns="101075">
            <a:spAutoFit/>
          </a:bodyPr>
          <a:lstStyle/>
          <a:p>
            <a:pPr indent="0" lvl="0" marL="0" rtl="0" algn="l">
              <a:spcBef>
                <a:spcPts val="0"/>
              </a:spcBef>
              <a:spcAft>
                <a:spcPts val="0"/>
              </a:spcAft>
              <a:buNone/>
            </a:pPr>
            <a:r>
              <a:rPr b="1" lang="en" sz="1327"/>
              <a:t>Key Risks &amp; Mitigation </a:t>
            </a:r>
            <a:endParaRPr b="1" sz="1327"/>
          </a:p>
        </p:txBody>
      </p:sp>
      <p:sp>
        <p:nvSpPr>
          <p:cNvPr id="129" name="Google Shape;129;p19"/>
          <p:cNvSpPr/>
          <p:nvPr/>
        </p:nvSpPr>
        <p:spPr>
          <a:xfrm>
            <a:off x="3621800" y="2788050"/>
            <a:ext cx="5522100" cy="2375400"/>
          </a:xfrm>
          <a:prstGeom prst="roundRect">
            <a:avLst>
              <a:gd fmla="val 16667" name="adj"/>
            </a:avLst>
          </a:prstGeom>
          <a:solidFill>
            <a:schemeClr val="lt2"/>
          </a:solidFill>
          <a:ln cap="flat" cmpd="sng" w="10525">
            <a:solidFill>
              <a:schemeClr val="dk2"/>
            </a:solidFill>
            <a:prstDash val="solid"/>
            <a:round/>
            <a:headEnd len="sm" w="sm" type="none"/>
            <a:tailEnd len="sm" w="sm" type="none"/>
          </a:ln>
        </p:spPr>
        <p:txBody>
          <a:bodyPr anchorCtr="0" anchor="ctr" bIns="101075" lIns="101075" spcFirstLastPara="1" rIns="101075" wrap="square" tIns="101075">
            <a:noAutofit/>
          </a:bodyPr>
          <a:lstStyle/>
          <a:p>
            <a:pPr indent="0" lvl="0" marL="0" rtl="0" algn="l">
              <a:lnSpc>
                <a:spcPct val="115000"/>
              </a:lnSpc>
              <a:spcBef>
                <a:spcPts val="1200"/>
              </a:spcBef>
              <a:spcAft>
                <a:spcPts val="0"/>
              </a:spcAft>
              <a:buClr>
                <a:schemeClr val="dk1"/>
              </a:buClr>
              <a:buSzPts val="1100"/>
              <a:buFont typeface="Arial"/>
              <a:buNone/>
            </a:pPr>
            <a:r>
              <a:rPr b="1" lang="en" sz="800">
                <a:solidFill>
                  <a:schemeClr val="dk1"/>
                </a:solidFill>
              </a:rPr>
              <a:t>Phase 1 — Prototype</a:t>
            </a:r>
            <a:br>
              <a:rPr b="1" lang="en" sz="800">
                <a:solidFill>
                  <a:schemeClr val="dk1"/>
                </a:solidFill>
              </a:rPr>
            </a:br>
            <a:r>
              <a:rPr lang="en" sz="800">
                <a:solidFill>
                  <a:schemeClr val="dk1"/>
                </a:solidFill>
              </a:rPr>
              <a:t>RF transmitter + receiver + microcontroller + traffic-light model</a:t>
            </a:r>
            <a:endParaRPr sz="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800">
                <a:solidFill>
                  <a:schemeClr val="dk1"/>
                </a:solidFill>
              </a:rPr>
              <a:t>Phase 2 — Controlled Pilot</a:t>
            </a:r>
            <a:br>
              <a:rPr b="1" lang="en" sz="800">
                <a:solidFill>
                  <a:schemeClr val="dk1"/>
                </a:solidFill>
              </a:rPr>
            </a:br>
            <a:r>
              <a:rPr lang="en" sz="800">
                <a:solidFill>
                  <a:schemeClr val="dk1"/>
                </a:solidFill>
              </a:rPr>
              <a:t>Test at selected junctions with emergency-service coordination</a:t>
            </a:r>
            <a:endParaRPr sz="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800">
                <a:solidFill>
                  <a:schemeClr val="dk1"/>
                </a:solidFill>
              </a:rPr>
              <a:t>Phase 3 — Connected System</a:t>
            </a:r>
            <a:br>
              <a:rPr b="1" lang="en" sz="800">
                <a:solidFill>
                  <a:schemeClr val="dk1"/>
                </a:solidFill>
              </a:rPr>
            </a:br>
            <a:r>
              <a:rPr lang="en" sz="800">
                <a:solidFill>
                  <a:schemeClr val="dk1"/>
                </a:solidFill>
              </a:rPr>
              <a:t>Integrate V2X, traffic monitoring, driver alerts and multiple-junction coordination</a:t>
            </a:r>
            <a:endParaRPr sz="800">
              <a:solidFill>
                <a:schemeClr val="dk1"/>
              </a:solidFill>
            </a:endParaRPr>
          </a:p>
          <a:p>
            <a:pPr indent="0" lvl="0" marL="0" rtl="0" algn="l">
              <a:lnSpc>
                <a:spcPct val="115000"/>
              </a:lnSpc>
              <a:spcBef>
                <a:spcPts val="1200"/>
              </a:spcBef>
              <a:spcAft>
                <a:spcPts val="1200"/>
              </a:spcAft>
              <a:buNone/>
            </a:pPr>
            <a:r>
              <a:rPr b="1" lang="en" sz="800">
                <a:solidFill>
                  <a:schemeClr val="dk1"/>
                </a:solidFill>
              </a:rPr>
              <a:t>Phase 4 — Dynamic Emergency Corridor</a:t>
            </a:r>
            <a:br>
              <a:rPr b="1" lang="en" sz="800">
                <a:solidFill>
                  <a:schemeClr val="dk1"/>
                </a:solidFill>
              </a:rPr>
            </a:br>
            <a:r>
              <a:rPr lang="en" sz="800">
                <a:solidFill>
                  <a:schemeClr val="dk1"/>
                </a:solidFill>
              </a:rPr>
              <a:t>Extend coordination from </a:t>
            </a:r>
            <a:r>
              <a:rPr b="1" lang="en" sz="800">
                <a:solidFill>
                  <a:schemeClr val="dk1"/>
                </a:solidFill>
              </a:rPr>
              <a:t>emergency call → accident scene → hospital</a:t>
            </a:r>
            <a:endParaRPr sz="916">
              <a:solidFill>
                <a:schemeClr val="dk1"/>
              </a:solidFill>
            </a:endParaRPr>
          </a:p>
        </p:txBody>
      </p:sp>
      <p:sp>
        <p:nvSpPr>
          <p:cNvPr id="130" name="Google Shape;130;p19"/>
          <p:cNvSpPr txBox="1"/>
          <p:nvPr/>
        </p:nvSpPr>
        <p:spPr>
          <a:xfrm>
            <a:off x="3967310" y="2788040"/>
            <a:ext cx="3965400" cy="408300"/>
          </a:xfrm>
          <a:prstGeom prst="rect">
            <a:avLst/>
          </a:prstGeom>
          <a:noFill/>
          <a:ln>
            <a:noFill/>
          </a:ln>
        </p:spPr>
        <p:txBody>
          <a:bodyPr anchorCtr="0" anchor="t" bIns="101075" lIns="101075" spcFirstLastPara="1" rIns="101075" wrap="square" tIns="101075">
            <a:spAutoFit/>
          </a:bodyPr>
          <a:lstStyle/>
          <a:p>
            <a:pPr indent="0" lvl="0" marL="0" rtl="0" algn="l">
              <a:spcBef>
                <a:spcPts val="0"/>
              </a:spcBef>
              <a:spcAft>
                <a:spcPts val="0"/>
              </a:spcAft>
              <a:buNone/>
            </a:pPr>
            <a:r>
              <a:rPr b="1" lang="en" sz="1327"/>
              <a:t>Local Implementation (Kamareddy District) </a:t>
            </a:r>
            <a:endParaRPr b="1" sz="1327"/>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F4F3"/>
        </a:solidFill>
      </p:bgPr>
    </p:bg>
    <p:spTree>
      <p:nvGrpSpPr>
        <p:cNvPr id="134" name="Shape 134"/>
        <p:cNvGrpSpPr/>
        <p:nvPr/>
      </p:nvGrpSpPr>
      <p:grpSpPr>
        <a:xfrm>
          <a:off x="0" y="0"/>
          <a:ext cx="0" cy="0"/>
          <a:chOff x="0" y="0"/>
          <a:chExt cx="0" cy="0"/>
        </a:xfrm>
      </p:grpSpPr>
      <p:sp>
        <p:nvSpPr>
          <p:cNvPr id="135" name="Google Shape;135;p20"/>
          <p:cNvSpPr txBox="1"/>
          <p:nvPr/>
        </p:nvSpPr>
        <p:spPr>
          <a:xfrm>
            <a:off x="157000" y="115350"/>
            <a:ext cx="49938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rgbClr val="16323F"/>
                </a:solidFill>
              </a:rPr>
              <a:t>Local Impact &amp; Vision 2047 </a:t>
            </a:r>
            <a:endParaRPr b="1" sz="1700">
              <a:solidFill>
                <a:srgbClr val="16323F"/>
              </a:solidFill>
            </a:endParaRPr>
          </a:p>
        </p:txBody>
      </p:sp>
      <p:sp>
        <p:nvSpPr>
          <p:cNvPr id="136" name="Google Shape;136;p20"/>
          <p:cNvSpPr/>
          <p:nvPr/>
        </p:nvSpPr>
        <p:spPr>
          <a:xfrm>
            <a:off x="530950" y="648500"/>
            <a:ext cx="4993800" cy="1940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400"/>
              </a:spcBef>
              <a:spcAft>
                <a:spcPts val="0"/>
              </a:spcAft>
              <a:buNone/>
            </a:pPr>
            <a:r>
              <a:rPr b="1" lang="en" sz="1100">
                <a:solidFill>
                  <a:schemeClr val="dk1"/>
                </a:solidFill>
              </a:rPr>
              <a:t>MEASURABLE COMMUNITY BENEFITS</a:t>
            </a:r>
            <a:endParaRPr b="1" sz="1100">
              <a:solidFill>
                <a:schemeClr val="dk1"/>
              </a:solidFill>
            </a:endParaRPr>
          </a:p>
          <a:p>
            <a:pPr indent="-285750" lvl="0" marL="457200" rtl="0" algn="l">
              <a:lnSpc>
                <a:spcPct val="115000"/>
              </a:lnSpc>
              <a:spcBef>
                <a:spcPts val="1200"/>
              </a:spcBef>
              <a:spcAft>
                <a:spcPts val="0"/>
              </a:spcAft>
              <a:buClr>
                <a:schemeClr val="dk1"/>
              </a:buClr>
              <a:buSzPts val="900"/>
              <a:buChar char="●"/>
            </a:pPr>
            <a:r>
              <a:rPr b="1" lang="en" sz="900">
                <a:solidFill>
                  <a:schemeClr val="dk1"/>
                </a:solidFill>
              </a:rPr>
              <a:t>Reduced Emergency Travel Time:</a:t>
            </a:r>
            <a:r>
              <a:rPr lang="en" sz="900">
                <a:solidFill>
                  <a:schemeClr val="dk1"/>
                </a:solidFill>
              </a:rPr>
              <a:t> Minimize avoidable delays at traffic signals, congested roads and blocked intersections.</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b="1" lang="en" sz="900">
                <a:solidFill>
                  <a:schemeClr val="dk1"/>
                </a:solidFill>
              </a:rPr>
              <a:t>Faster Emergency Access:</a:t>
            </a:r>
            <a:r>
              <a:rPr lang="en" sz="900">
                <a:solidFill>
                  <a:schemeClr val="dk1"/>
                </a:solidFill>
              </a:rPr>
              <a:t> Help ambulances reach accident scenes and suitable hospitals more efficiently.</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b="1" lang="en" sz="900">
                <a:solidFill>
                  <a:schemeClr val="dk1"/>
                </a:solidFill>
              </a:rPr>
              <a:t>Safer Road Priority:</a:t>
            </a:r>
            <a:r>
              <a:rPr lang="en" sz="900">
                <a:solidFill>
                  <a:schemeClr val="dk1"/>
                </a:solidFill>
              </a:rPr>
              <a:t> Alert nearby drivers and coordinate traffic signals to create a safer emergency corridor.</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b="1" lang="en" sz="900">
                <a:solidFill>
                  <a:schemeClr val="dk1"/>
                </a:solidFill>
              </a:rPr>
              <a:t>Low-Cost Scalability:</a:t>
            </a:r>
            <a:r>
              <a:rPr lang="en" sz="900">
                <a:solidFill>
                  <a:schemeClr val="dk1"/>
                </a:solidFill>
              </a:rPr>
              <a:t> Use affordable RF-based hardware for the prototype, with future expansion to V2X technology.</a:t>
            </a:r>
            <a:endParaRPr b="1" sz="700">
              <a:solidFill>
                <a:schemeClr val="dk1"/>
              </a:solidFill>
            </a:endParaRPr>
          </a:p>
        </p:txBody>
      </p:sp>
      <p:sp>
        <p:nvSpPr>
          <p:cNvPr id="137" name="Google Shape;137;p20"/>
          <p:cNvSpPr/>
          <p:nvPr/>
        </p:nvSpPr>
        <p:spPr>
          <a:xfrm>
            <a:off x="530950" y="2675950"/>
            <a:ext cx="4993800" cy="2274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400"/>
              </a:spcBef>
              <a:spcAft>
                <a:spcPts val="0"/>
              </a:spcAft>
              <a:buNone/>
            </a:pPr>
            <a:r>
              <a:rPr b="1" lang="en" sz="1300">
                <a:solidFill>
                  <a:schemeClr val="dk1"/>
                </a:solidFill>
              </a:rPr>
              <a:t>BUILDING A SMARTER &amp; SAFER INDIA</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Smart Urban Infrastructure:</a:t>
            </a:r>
            <a:r>
              <a:rPr lang="en" sz="1100">
                <a:solidFill>
                  <a:schemeClr val="dk1"/>
                </a:solidFill>
              </a:rPr>
              <a:t> Support intelligent and connected traffic-management systems.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Equitable Emergency Healthcare:</a:t>
            </a:r>
            <a:r>
              <a:rPr lang="en" sz="1100">
                <a:solidFill>
                  <a:schemeClr val="dk1"/>
                </a:solidFill>
              </a:rPr>
              <a:t> Improve emergency mobility beyond major metropolitan areas.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Connected Transportation:</a:t>
            </a:r>
            <a:r>
              <a:rPr lang="en" sz="1100">
                <a:solidFill>
                  <a:schemeClr val="dk1"/>
                </a:solidFill>
              </a:rPr>
              <a:t> Link ambulances, traffic signals, roadside infrastructure and connected vehicles.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Indigenous Innovation:</a:t>
            </a:r>
            <a:r>
              <a:rPr lang="en" sz="1100">
                <a:solidFill>
                  <a:schemeClr val="dk1"/>
                </a:solidFill>
              </a:rPr>
              <a:t> Demonstrate how locally developed, affordable technology can address real transportation challenges.</a:t>
            </a:r>
            <a:endParaRPr b="1" sz="900">
              <a:solidFill>
                <a:schemeClr val="dk1"/>
              </a:solidFill>
            </a:endParaRPr>
          </a:p>
        </p:txBody>
      </p:sp>
      <p:sp>
        <p:nvSpPr>
          <p:cNvPr id="138" name="Google Shape;138;p20"/>
          <p:cNvSpPr txBox="1"/>
          <p:nvPr/>
        </p:nvSpPr>
        <p:spPr>
          <a:xfrm>
            <a:off x="6025375" y="4607075"/>
            <a:ext cx="2349000" cy="17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2"/>
                </a:solidFill>
              </a:rPr>
              <a:t>How does it contribute to Vision 2047?</a:t>
            </a:r>
            <a:endParaRPr>
              <a:solidFill>
                <a:schemeClr val="dk2"/>
              </a:solidFill>
            </a:endParaRPr>
          </a:p>
        </p:txBody>
      </p:sp>
      <p:pic>
        <p:nvPicPr>
          <p:cNvPr id="139" name="Google Shape;139;p20"/>
          <p:cNvPicPr preferRelativeResize="0"/>
          <p:nvPr/>
        </p:nvPicPr>
        <p:blipFill>
          <a:blip r:embed="rId3">
            <a:alphaModFix/>
          </a:blip>
          <a:stretch>
            <a:fillRect/>
          </a:stretch>
        </p:blipFill>
        <p:spPr>
          <a:xfrm>
            <a:off x="5765788" y="420613"/>
            <a:ext cx="2868183" cy="43022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F4F3"/>
        </a:solidFill>
      </p:bgPr>
    </p:bg>
    <p:spTree>
      <p:nvGrpSpPr>
        <p:cNvPr id="143" name="Shape 143"/>
        <p:cNvGrpSpPr/>
        <p:nvPr/>
      </p:nvGrpSpPr>
      <p:grpSpPr>
        <a:xfrm>
          <a:off x="0" y="0"/>
          <a:ext cx="0" cy="0"/>
          <a:chOff x="0" y="0"/>
          <a:chExt cx="0" cy="0"/>
        </a:xfrm>
      </p:grpSpPr>
      <p:sp>
        <p:nvSpPr>
          <p:cNvPr id="144" name="Google Shape;144;p21"/>
          <p:cNvSpPr txBox="1"/>
          <p:nvPr/>
        </p:nvSpPr>
        <p:spPr>
          <a:xfrm>
            <a:off x="157000" y="115350"/>
            <a:ext cx="33348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rgbClr val="16323F"/>
                </a:solidFill>
              </a:rPr>
              <a:t>References &amp; Credits </a:t>
            </a:r>
            <a:endParaRPr b="1" sz="1700">
              <a:solidFill>
                <a:srgbClr val="16323F"/>
              </a:solidFill>
            </a:endParaRPr>
          </a:p>
        </p:txBody>
      </p:sp>
      <p:sp>
        <p:nvSpPr>
          <p:cNvPr id="145" name="Google Shape;145;p21"/>
          <p:cNvSpPr/>
          <p:nvPr/>
        </p:nvSpPr>
        <p:spPr>
          <a:xfrm>
            <a:off x="4897175" y="317975"/>
            <a:ext cx="3775200" cy="2466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260350" lvl="0" marL="457200" rtl="0" algn="l">
              <a:lnSpc>
                <a:spcPct val="115000"/>
              </a:lnSpc>
              <a:spcBef>
                <a:spcPts val="1200"/>
              </a:spcBef>
              <a:spcAft>
                <a:spcPts val="0"/>
              </a:spcAft>
              <a:buClr>
                <a:schemeClr val="dk1"/>
              </a:buClr>
              <a:buSzPts val="500"/>
              <a:buAutoNum type="arabicPeriod"/>
            </a:pPr>
            <a:r>
              <a:rPr b="1" lang="en" sz="600">
                <a:solidFill>
                  <a:schemeClr val="dk1"/>
                </a:solidFill>
              </a:rPr>
              <a:t>1. Maharashtra Emergency Medical Services — Scientific Reports (2023)</a:t>
            </a:r>
            <a:br>
              <a:rPr b="1" lang="en" sz="600">
                <a:solidFill>
                  <a:schemeClr val="dk1"/>
                </a:solidFill>
              </a:rPr>
            </a:br>
            <a:r>
              <a:rPr lang="en" sz="600" u="sng">
                <a:solidFill>
                  <a:schemeClr val="hlink"/>
                </a:solidFill>
                <a:hlinkClick r:id="rId3"/>
              </a:rPr>
              <a:t>Scientific Reports — Maharashtra EMS Study</a:t>
            </a:r>
            <a:endParaRPr sz="600" u="sng">
              <a:solidFill>
                <a:schemeClr val="hlink"/>
              </a:solidFill>
            </a:endParaRPr>
          </a:p>
          <a:p>
            <a:pPr indent="-260350" lvl="0" marL="457200" rtl="0" algn="l">
              <a:lnSpc>
                <a:spcPct val="115000"/>
              </a:lnSpc>
              <a:spcBef>
                <a:spcPts val="0"/>
              </a:spcBef>
              <a:spcAft>
                <a:spcPts val="0"/>
              </a:spcAft>
              <a:buClr>
                <a:schemeClr val="dk1"/>
              </a:buClr>
              <a:buSzPts val="500"/>
              <a:buAutoNum type="arabicPeriod"/>
            </a:pPr>
            <a:r>
              <a:rPr b="1" lang="en" sz="600">
                <a:solidFill>
                  <a:schemeClr val="dk1"/>
                </a:solidFill>
              </a:rPr>
              <a:t>2. Indian National Highways — Ambulance Reachability Study (2024)</a:t>
            </a:r>
            <a:br>
              <a:rPr b="1" lang="en" sz="600">
                <a:solidFill>
                  <a:schemeClr val="dk1"/>
                </a:solidFill>
              </a:rPr>
            </a:br>
            <a:r>
              <a:rPr lang="en" sz="600" u="sng">
                <a:solidFill>
                  <a:schemeClr val="hlink"/>
                </a:solidFill>
                <a:hlinkClick r:id="rId4"/>
              </a:rPr>
              <a:t>PubMed — Indian Highway Ambulance Study</a:t>
            </a:r>
            <a:endParaRPr sz="600" u="sng">
              <a:solidFill>
                <a:schemeClr val="hlink"/>
              </a:solidFill>
            </a:endParaRPr>
          </a:p>
          <a:p>
            <a:pPr indent="-260350" lvl="0" marL="457200" rtl="0" algn="l">
              <a:lnSpc>
                <a:spcPct val="115000"/>
              </a:lnSpc>
              <a:spcBef>
                <a:spcPts val="0"/>
              </a:spcBef>
              <a:spcAft>
                <a:spcPts val="0"/>
              </a:spcAft>
              <a:buClr>
                <a:schemeClr val="dk1"/>
              </a:buClr>
              <a:buSzPts val="500"/>
              <a:buAutoNum type="arabicPeriod"/>
            </a:pPr>
            <a:r>
              <a:rPr b="1" lang="en" sz="600">
                <a:solidFill>
                  <a:schemeClr val="dk1"/>
                </a:solidFill>
              </a:rPr>
              <a:t>3. National Ambulance Services Guidelines — Government of India (2026)</a:t>
            </a:r>
            <a:br>
              <a:rPr b="1" lang="en" sz="600">
                <a:solidFill>
                  <a:schemeClr val="dk1"/>
                </a:solidFill>
              </a:rPr>
            </a:br>
            <a:r>
              <a:rPr lang="en" sz="600" u="sng">
                <a:solidFill>
                  <a:schemeClr val="hlink"/>
                </a:solidFill>
                <a:hlinkClick r:id="rId5"/>
              </a:rPr>
              <a:t>PIB — National Ambulance Services Guidelines 2026</a:t>
            </a:r>
            <a:endParaRPr sz="600" u="sng">
              <a:solidFill>
                <a:schemeClr val="hlink"/>
              </a:solidFill>
            </a:endParaRPr>
          </a:p>
          <a:p>
            <a:pPr indent="-260350" lvl="0" marL="457200" rtl="0" algn="l">
              <a:lnSpc>
                <a:spcPct val="115000"/>
              </a:lnSpc>
              <a:spcBef>
                <a:spcPts val="0"/>
              </a:spcBef>
              <a:spcAft>
                <a:spcPts val="0"/>
              </a:spcAft>
              <a:buClr>
                <a:schemeClr val="dk1"/>
              </a:buClr>
              <a:buSzPts val="500"/>
              <a:buAutoNum type="arabicPeriod"/>
            </a:pPr>
            <a:r>
              <a:rPr b="1" lang="en" sz="600">
                <a:solidFill>
                  <a:schemeClr val="dk1"/>
                </a:solidFill>
              </a:rPr>
              <a:t>4. C-DAC — Emergency Service Vehicle Priority System (EmSerV)</a:t>
            </a:r>
            <a:br>
              <a:rPr b="1" lang="en" sz="600">
                <a:solidFill>
                  <a:schemeClr val="dk1"/>
                </a:solidFill>
              </a:rPr>
            </a:br>
            <a:r>
              <a:rPr lang="en" sz="600" u="sng">
                <a:solidFill>
                  <a:schemeClr val="hlink"/>
                </a:solidFill>
                <a:hlinkClick r:id="rId6"/>
              </a:rPr>
              <a:t>C-DAC — EmSerV Emergency Vehicle Priority System</a:t>
            </a:r>
            <a:endParaRPr sz="600" u="sng">
              <a:solidFill>
                <a:schemeClr val="hlink"/>
              </a:solidFill>
            </a:endParaRPr>
          </a:p>
          <a:p>
            <a:pPr indent="-260350" lvl="0" marL="457200" rtl="0" algn="l">
              <a:lnSpc>
                <a:spcPct val="115000"/>
              </a:lnSpc>
              <a:spcBef>
                <a:spcPts val="0"/>
              </a:spcBef>
              <a:spcAft>
                <a:spcPts val="0"/>
              </a:spcAft>
              <a:buClr>
                <a:schemeClr val="dk1"/>
              </a:buClr>
              <a:buSzPts val="500"/>
              <a:buAutoNum type="arabicPeriod"/>
            </a:pPr>
            <a:r>
              <a:rPr b="1" lang="en" sz="600">
                <a:solidFill>
                  <a:schemeClr val="dk1"/>
                </a:solidFill>
              </a:rPr>
              <a:t>5. Singapore Traffic Priority System — SCDF Annual Statistics 2025</a:t>
            </a:r>
            <a:br>
              <a:rPr b="1" lang="en" sz="600">
                <a:solidFill>
                  <a:schemeClr val="dk1"/>
                </a:solidFill>
              </a:rPr>
            </a:br>
            <a:r>
              <a:rPr lang="en" sz="600" u="sng">
                <a:solidFill>
                  <a:schemeClr val="hlink"/>
                </a:solidFill>
                <a:hlinkClick r:id="rId7"/>
              </a:rPr>
              <a:t>SCDF — Annual Statistics 2025</a:t>
            </a:r>
            <a:endParaRPr sz="600" u="sng">
              <a:solidFill>
                <a:schemeClr val="hlink"/>
              </a:solidFill>
            </a:endParaRPr>
          </a:p>
          <a:p>
            <a:pPr indent="-260350" lvl="0" marL="457200" rtl="0" algn="l">
              <a:lnSpc>
                <a:spcPct val="115000"/>
              </a:lnSpc>
              <a:spcBef>
                <a:spcPts val="0"/>
              </a:spcBef>
              <a:spcAft>
                <a:spcPts val="0"/>
              </a:spcAft>
              <a:buClr>
                <a:schemeClr val="dk1"/>
              </a:buClr>
              <a:buSzPts val="500"/>
              <a:buAutoNum type="arabicPeriod"/>
            </a:pPr>
            <a:r>
              <a:rPr b="1" lang="en" sz="600">
                <a:solidFill>
                  <a:schemeClr val="dk1"/>
                </a:solidFill>
              </a:rPr>
              <a:t>6. U.S. Emergency Vehicle Signal Pre-emption — FHWA</a:t>
            </a:r>
            <a:br>
              <a:rPr b="1" lang="en" sz="600">
                <a:solidFill>
                  <a:schemeClr val="dk1"/>
                </a:solidFill>
              </a:rPr>
            </a:br>
            <a:r>
              <a:rPr lang="en" sz="600" u="sng">
                <a:solidFill>
                  <a:schemeClr val="hlink"/>
                </a:solidFill>
                <a:hlinkClick r:id="rId8"/>
              </a:rPr>
              <a:t>FHWA — Traffic Signal Pre-emption Evidence</a:t>
            </a:r>
            <a:endParaRPr sz="600" u="sng">
              <a:solidFill>
                <a:schemeClr val="hlink"/>
              </a:solidFill>
            </a:endParaRPr>
          </a:p>
          <a:p>
            <a:pPr indent="-260350" lvl="0" marL="457200" rtl="0" algn="l">
              <a:lnSpc>
                <a:spcPct val="115000"/>
              </a:lnSpc>
              <a:spcBef>
                <a:spcPts val="0"/>
              </a:spcBef>
              <a:spcAft>
                <a:spcPts val="0"/>
              </a:spcAft>
              <a:buClr>
                <a:schemeClr val="dk1"/>
              </a:buClr>
              <a:buSzPts val="500"/>
              <a:buAutoNum type="arabicPeriod"/>
            </a:pPr>
            <a:r>
              <a:rPr b="1" lang="en" sz="600">
                <a:solidFill>
                  <a:schemeClr val="dk1"/>
                </a:solidFill>
              </a:rPr>
              <a:t>7. India V2X Green Corridor Trial — Government of India TEC</a:t>
            </a:r>
            <a:br>
              <a:rPr b="1" lang="en" sz="600">
                <a:solidFill>
                  <a:schemeClr val="dk1"/>
                </a:solidFill>
              </a:rPr>
            </a:br>
            <a:r>
              <a:rPr lang="en" sz="600" u="sng">
                <a:solidFill>
                  <a:schemeClr val="hlink"/>
                </a:solidFill>
                <a:hlinkClick r:id="rId9"/>
              </a:rPr>
              <a:t>TEC — Intelligent Transport System Technical Report</a:t>
            </a:r>
            <a:endParaRPr sz="600" u="sng">
              <a:solidFill>
                <a:schemeClr val="hlink"/>
              </a:solidFill>
            </a:endParaRPr>
          </a:p>
          <a:p>
            <a:pPr indent="-260350" lvl="0" marL="457200" rtl="0" algn="l">
              <a:lnSpc>
                <a:spcPct val="115000"/>
              </a:lnSpc>
              <a:spcBef>
                <a:spcPts val="0"/>
              </a:spcBef>
              <a:spcAft>
                <a:spcPts val="0"/>
              </a:spcAft>
              <a:buClr>
                <a:schemeClr val="dk1"/>
              </a:buClr>
              <a:buSzPts val="500"/>
              <a:buAutoNum type="arabicPeriod"/>
            </a:pPr>
            <a:r>
              <a:rPr b="1" lang="en" sz="600">
                <a:solidFill>
                  <a:schemeClr val="dk1"/>
                </a:solidFill>
              </a:rPr>
              <a:t>8. Real-Time Two-Phase Ambulance Routing — Scientific Reports (2026)</a:t>
            </a:r>
            <a:br>
              <a:rPr b="1" lang="en" sz="600">
                <a:solidFill>
                  <a:schemeClr val="dk1"/>
                </a:solidFill>
              </a:rPr>
            </a:br>
            <a:r>
              <a:rPr lang="en" sz="600" u="sng">
                <a:solidFill>
                  <a:schemeClr val="hlink"/>
                </a:solidFill>
                <a:hlinkClick r:id="rId10"/>
              </a:rPr>
              <a:t>Scientific Reports — Two-Phase Ambulance Routing Study</a:t>
            </a:r>
            <a:endParaRPr b="1" sz="500">
              <a:solidFill>
                <a:schemeClr val="dk1"/>
              </a:solidFill>
            </a:endParaRPr>
          </a:p>
        </p:txBody>
      </p:sp>
      <p:sp>
        <p:nvSpPr>
          <p:cNvPr id="146" name="Google Shape;146;p21"/>
          <p:cNvSpPr txBox="1"/>
          <p:nvPr/>
        </p:nvSpPr>
        <p:spPr>
          <a:xfrm>
            <a:off x="5088700" y="361475"/>
            <a:ext cx="2695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t>References &amp; Data Sources </a:t>
            </a:r>
            <a:endParaRPr b="1" sz="1200"/>
          </a:p>
        </p:txBody>
      </p:sp>
      <p:sp>
        <p:nvSpPr>
          <p:cNvPr id="147" name="Google Shape;147;p21"/>
          <p:cNvSpPr/>
          <p:nvPr/>
        </p:nvSpPr>
        <p:spPr>
          <a:xfrm>
            <a:off x="478825" y="2889475"/>
            <a:ext cx="3914100" cy="2241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b="1" lang="en" sz="1100">
                <a:solidFill>
                  <a:schemeClr val="dk1"/>
                </a:solidFill>
              </a:rPr>
              <a:t>We will give special thanks to PanIIT summit team to giving this </a:t>
            </a:r>
            <a:r>
              <a:rPr b="1" lang="en" sz="1100">
                <a:solidFill>
                  <a:schemeClr val="dk1"/>
                </a:solidFill>
              </a:rPr>
              <a:t>opportunity</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We will thank my mentor T. Ravichandra sir (ATL instructor), for guiding us in every part during this idea development</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We will thank our SPR High School, Kamareddy, for giving this platform learn and grow</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We will thank to our parents and all teachers</a:t>
            </a:r>
            <a:endParaRPr b="1" sz="1100">
              <a:solidFill>
                <a:schemeClr val="dk1"/>
              </a:solidFill>
            </a:endParaRPr>
          </a:p>
        </p:txBody>
      </p:sp>
      <p:sp>
        <p:nvSpPr>
          <p:cNvPr id="148" name="Google Shape;148;p21"/>
          <p:cNvSpPr txBox="1"/>
          <p:nvPr/>
        </p:nvSpPr>
        <p:spPr>
          <a:xfrm>
            <a:off x="828175" y="2871550"/>
            <a:ext cx="2695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t>Acknowledgements </a:t>
            </a:r>
            <a:endParaRPr b="1" sz="1200"/>
          </a:p>
        </p:txBody>
      </p:sp>
      <p:sp>
        <p:nvSpPr>
          <p:cNvPr id="149" name="Google Shape;149;p21"/>
          <p:cNvSpPr/>
          <p:nvPr/>
        </p:nvSpPr>
        <p:spPr>
          <a:xfrm>
            <a:off x="4827725" y="2889475"/>
            <a:ext cx="3914100" cy="2241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b="1" lang="en" sz="1100">
                <a:solidFill>
                  <a:schemeClr val="dk1"/>
                </a:solidFill>
              </a:rPr>
              <a:t>AI Declaration:</a:t>
            </a:r>
            <a:r>
              <a:rPr lang="en" sz="1100">
                <a:solidFill>
                  <a:schemeClr val="dk1"/>
                </a:solidFill>
              </a:rPr>
              <a:t> Artificial Intelligence tools (Gemini / ChatGPT) were used during this project strictly for content structuring, grammar refinement, slide layout generation, and language polishing.</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Originality Note:</a:t>
            </a:r>
            <a:r>
              <a:rPr lang="en" sz="1100">
                <a:solidFill>
                  <a:schemeClr val="dk1"/>
                </a:solidFill>
              </a:rPr>
              <a:t> All core problem identification, field observation planning, hardware system architecture, and solution ideas were independently developed by the student team.</a:t>
            </a:r>
            <a:endParaRPr sz="1100">
              <a:solidFill>
                <a:schemeClr val="dk1"/>
              </a:solidFill>
            </a:endParaRPr>
          </a:p>
        </p:txBody>
      </p:sp>
      <p:sp>
        <p:nvSpPr>
          <p:cNvPr id="150" name="Google Shape;150;p21"/>
          <p:cNvSpPr txBox="1"/>
          <p:nvPr/>
        </p:nvSpPr>
        <p:spPr>
          <a:xfrm>
            <a:off x="5177075" y="2871550"/>
            <a:ext cx="2695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t>AI Tool Declaration </a:t>
            </a:r>
            <a:endParaRPr b="1" sz="12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F4F3"/>
        </a:solidFill>
      </p:bgPr>
    </p:bg>
    <p:spTree>
      <p:nvGrpSpPr>
        <p:cNvPr id="154" name="Shape 154"/>
        <p:cNvGrpSpPr/>
        <p:nvPr/>
      </p:nvGrpSpPr>
      <p:grpSpPr>
        <a:xfrm>
          <a:off x="0" y="0"/>
          <a:ext cx="0" cy="0"/>
          <a:chOff x="0" y="0"/>
          <a:chExt cx="0" cy="0"/>
        </a:xfrm>
      </p:grpSpPr>
      <p:sp>
        <p:nvSpPr>
          <p:cNvPr id="155" name="Google Shape;155;p22"/>
          <p:cNvSpPr txBox="1"/>
          <p:nvPr/>
        </p:nvSpPr>
        <p:spPr>
          <a:xfrm>
            <a:off x="1735650" y="2144700"/>
            <a:ext cx="5672700" cy="854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200">
                <a:solidFill>
                  <a:schemeClr val="dk2"/>
                </a:solidFill>
                <a:latin typeface="Calibri"/>
                <a:ea typeface="Calibri"/>
                <a:cs typeface="Calibri"/>
                <a:sym typeface="Calibri"/>
              </a:rPr>
              <a:t>Thank you!!</a:t>
            </a:r>
            <a:endParaRPr b="1" sz="8200">
              <a:solidFill>
                <a:schemeClr val="dk2"/>
              </a:solidFill>
              <a:latin typeface="Calibri"/>
              <a:ea typeface="Calibri"/>
              <a:cs typeface="Calibri"/>
              <a:sym typeface="Calibri"/>
            </a:endParaRPr>
          </a:p>
        </p:txBody>
      </p:sp>
      <p:sp>
        <p:nvSpPr>
          <p:cNvPr id="156" name="Google Shape;156;p22"/>
          <p:cNvSpPr txBox="1"/>
          <p:nvPr/>
        </p:nvSpPr>
        <p:spPr>
          <a:xfrm>
            <a:off x="2631600" y="3641500"/>
            <a:ext cx="3880800" cy="57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2"/>
                </a:solidFill>
              </a:rPr>
              <a:t>To PanIIT Team for giving this </a:t>
            </a:r>
            <a:r>
              <a:rPr lang="en" sz="1800">
                <a:solidFill>
                  <a:schemeClr val="dk2"/>
                </a:solidFill>
              </a:rPr>
              <a:t>opportunity </a:t>
            </a:r>
            <a:endParaRPr sz="18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